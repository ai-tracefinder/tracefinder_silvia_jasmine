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53" d="100"/>
          <a:sy n="53" d="100"/>
        </p:scale>
        <p:origin x="24" y="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189038"/>
            <a:ext cx="8229600" cy="1143000"/>
          </a:xfrm>
        </p:spPr>
        <p:txBody>
          <a:bodyPr>
            <a:normAutofit fontScale="90000"/>
          </a:bodyPr>
          <a:lstStyle/>
          <a:p>
            <a:r>
              <a:rPr lang="en-IN" dirty="0">
                <a:solidFill>
                  <a:srgbClr val="C8C8C8"/>
                </a:solidFill>
              </a:rPr>
              <a:t>TRACEFINDER – FORENSIC SCANNER</a:t>
            </a:r>
            <a:br>
              <a:rPr lang="en-IN" dirty="0">
                <a:solidFill>
                  <a:srgbClr val="C8C8C8"/>
                </a:solidFill>
              </a:rPr>
            </a:br>
            <a:r>
              <a:rPr lang="en-IN" dirty="0">
                <a:solidFill>
                  <a:srgbClr val="C8C8C8"/>
                </a:solidFill>
              </a:rPr>
              <a:t> IDENTIFICATION SYSTEM</a:t>
            </a:r>
            <a:br>
              <a:rPr lang="en-IN" dirty="0">
                <a:solidFill>
                  <a:srgbClr val="C8C8C8"/>
                </a:solidFill>
              </a:rPr>
            </a:br>
            <a:endParaRPr dirty="0"/>
          </a:p>
        </p:txBody>
      </p:sp>
      <p:sp>
        <p:nvSpPr>
          <p:cNvPr id="3" name="Content Placeholder 2"/>
          <p:cNvSpPr>
            <a:spLocks noGrp="1"/>
          </p:cNvSpPr>
          <p:nvPr>
            <p:ph idx="1"/>
          </p:nvPr>
        </p:nvSpPr>
        <p:spPr/>
        <p:txBody>
          <a:bodyPr/>
          <a:lstStyle/>
          <a:p>
            <a:pPr marL="0" indent="0">
              <a:buNone/>
            </a:pPr>
            <a:endParaRPr sz="1600" dirty="0">
              <a:solidFill>
                <a:srgbClr val="C8C8C8"/>
              </a:solidFill>
            </a:endParaRPr>
          </a:p>
          <a:p>
            <a:endParaRPr sz="1600" dirty="0">
              <a:solidFill>
                <a:srgbClr val="C8C8C8"/>
              </a:solidFill>
            </a:endParaRPr>
          </a:p>
          <a:p>
            <a:endParaRPr sz="1600" dirty="0">
              <a:solidFill>
                <a:srgbClr val="C8C8C8"/>
              </a:solidFill>
            </a:endParaRPr>
          </a:p>
          <a:p>
            <a:endParaRPr sz="1600" dirty="0">
              <a:solidFill>
                <a:srgbClr val="C8C8C8"/>
              </a:solidFill>
            </a:endParaRPr>
          </a:p>
          <a:p>
            <a:endParaRPr sz="1600" dirty="0">
              <a:solidFill>
                <a:srgbClr val="C8C8C8"/>
              </a:solidFill>
            </a:endParaRPr>
          </a:p>
          <a:p>
            <a:endParaRPr sz="1600" dirty="0">
              <a:solidFill>
                <a:srgbClr val="C8C8C8"/>
              </a:solidFill>
            </a:endParaRPr>
          </a:p>
          <a:p>
            <a:endParaRPr lang="en-US" sz="1600" dirty="0">
              <a:solidFill>
                <a:srgbClr val="C8C8C8"/>
              </a:solidFill>
            </a:endParaRPr>
          </a:p>
          <a:p>
            <a:endParaRPr lang="en-IN" sz="1600" dirty="0">
              <a:solidFill>
                <a:srgbClr val="C8C8C8"/>
              </a:solidFill>
            </a:endParaRPr>
          </a:p>
          <a:p>
            <a:endParaRPr lang="en-IN" sz="1600" dirty="0">
              <a:solidFill>
                <a:srgbClr val="C8C8C8"/>
              </a:solidFill>
            </a:endParaRPr>
          </a:p>
          <a:p>
            <a:endParaRPr sz="1600" dirty="0">
              <a:solidFill>
                <a:srgbClr val="C8C8C8"/>
              </a:solidFill>
            </a:endParaRPr>
          </a:p>
          <a:p>
            <a:pPr marL="0" indent="0">
              <a:buNone/>
            </a:pPr>
            <a:r>
              <a:rPr lang="en-US" sz="2800" dirty="0">
                <a:solidFill>
                  <a:srgbClr val="C8C8C8"/>
                </a:solidFill>
              </a:rPr>
              <a:t>												</a:t>
            </a:r>
            <a:r>
              <a:rPr sz="2800" dirty="0">
                <a:solidFill>
                  <a:srgbClr val="C8C8C8"/>
                </a:solidFill>
              </a:rPr>
              <a:t>PRESENTED BY:</a:t>
            </a:r>
            <a:endParaRPr lang="en-US" sz="2800" dirty="0">
              <a:solidFill>
                <a:srgbClr val="C8C8C8"/>
              </a:solidFill>
            </a:endParaRPr>
          </a:p>
          <a:p>
            <a:pPr marL="0" indent="0">
              <a:buNone/>
            </a:pPr>
            <a:r>
              <a:rPr sz="2800" dirty="0">
                <a:solidFill>
                  <a:srgbClr val="C8C8C8"/>
                </a:solidFill>
              </a:rPr>
              <a:t> </a:t>
            </a:r>
            <a:r>
              <a:rPr lang="en-US" sz="2800" dirty="0">
                <a:solidFill>
                  <a:srgbClr val="C8C8C8"/>
                </a:solidFill>
              </a:rPr>
              <a:t>											</a:t>
            </a:r>
            <a:r>
              <a:rPr sz="2800" dirty="0">
                <a:solidFill>
                  <a:srgbClr val="C8C8C8"/>
                </a:solidFill>
              </a:rPr>
              <a:t>A. SILVIA JASMINE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63286" y="1166018"/>
            <a:ext cx="8229600" cy="4525963"/>
          </a:xfrm>
        </p:spPr>
        <p:txBody>
          <a:bodyPr>
            <a:normAutofit fontScale="92500" lnSpcReduction="20000"/>
          </a:bodyPr>
          <a:lstStyle/>
          <a:p>
            <a:r>
              <a:rPr sz="1600" dirty="0">
                <a:solidFill>
                  <a:srgbClr val="C8C8C8"/>
                </a:solidFill>
              </a:rPr>
              <a:t>CONTENTS</a:t>
            </a:r>
          </a:p>
          <a:p>
            <a:pPr marL="0" indent="0">
              <a:buNone/>
            </a:pPr>
            <a:endParaRPr sz="1600" dirty="0">
              <a:solidFill>
                <a:srgbClr val="C8C8C8"/>
              </a:solidFill>
            </a:endParaRPr>
          </a:p>
          <a:p>
            <a:r>
              <a:rPr sz="1600" dirty="0">
                <a:solidFill>
                  <a:srgbClr val="C8C8C8"/>
                </a:solidFill>
              </a:rPr>
              <a:t>INTRODUCTION</a:t>
            </a:r>
          </a:p>
          <a:p>
            <a:endParaRPr sz="1600" dirty="0">
              <a:solidFill>
                <a:srgbClr val="C8C8C8"/>
              </a:solidFill>
            </a:endParaRPr>
          </a:p>
          <a:p>
            <a:r>
              <a:rPr sz="1600" dirty="0">
                <a:solidFill>
                  <a:srgbClr val="C8C8C8"/>
                </a:solidFill>
              </a:rPr>
              <a:t>PROBLEM STATEMENT</a:t>
            </a:r>
          </a:p>
          <a:p>
            <a:endParaRPr sz="1600" dirty="0">
              <a:solidFill>
                <a:srgbClr val="C8C8C8"/>
              </a:solidFill>
            </a:endParaRPr>
          </a:p>
          <a:p>
            <a:r>
              <a:rPr sz="1600" dirty="0">
                <a:solidFill>
                  <a:srgbClr val="C8C8C8"/>
                </a:solidFill>
              </a:rPr>
              <a:t>OBJECTIVES</a:t>
            </a:r>
          </a:p>
          <a:p>
            <a:endParaRPr sz="1600" dirty="0">
              <a:solidFill>
                <a:srgbClr val="C8C8C8"/>
              </a:solidFill>
            </a:endParaRPr>
          </a:p>
          <a:p>
            <a:r>
              <a:rPr sz="1600" dirty="0">
                <a:solidFill>
                  <a:srgbClr val="C8C8C8"/>
                </a:solidFill>
              </a:rPr>
              <a:t>METHODOLOGY </a:t>
            </a:r>
          </a:p>
          <a:p>
            <a:endParaRPr sz="1600" dirty="0">
              <a:solidFill>
                <a:srgbClr val="C8C8C8"/>
              </a:solidFill>
            </a:endParaRPr>
          </a:p>
          <a:p>
            <a:r>
              <a:rPr sz="1600" dirty="0">
                <a:solidFill>
                  <a:srgbClr val="C8C8C8"/>
                </a:solidFill>
              </a:rPr>
              <a:t>WORKFLOW </a:t>
            </a:r>
          </a:p>
          <a:p>
            <a:pPr marL="0" indent="0">
              <a:buNone/>
            </a:pPr>
            <a:endParaRPr sz="1600" dirty="0">
              <a:solidFill>
                <a:srgbClr val="C8C8C8"/>
              </a:solidFill>
            </a:endParaRPr>
          </a:p>
          <a:p>
            <a:r>
              <a:rPr sz="1600" dirty="0">
                <a:solidFill>
                  <a:srgbClr val="C8C8C8"/>
                </a:solidFill>
              </a:rPr>
              <a:t>OUTPUT</a:t>
            </a:r>
          </a:p>
          <a:p>
            <a:endParaRPr sz="1600" dirty="0">
              <a:solidFill>
                <a:srgbClr val="C8C8C8"/>
              </a:solidFill>
            </a:endParaRPr>
          </a:p>
          <a:p>
            <a:r>
              <a:rPr sz="1600" dirty="0">
                <a:solidFill>
                  <a:srgbClr val="C8C8C8"/>
                </a:solidFill>
              </a:rPr>
              <a:t>RESULT AND DISCUSSION</a:t>
            </a:r>
          </a:p>
          <a:p>
            <a:endParaRPr sz="1600" dirty="0">
              <a:solidFill>
                <a:srgbClr val="C8C8C8"/>
              </a:solidFill>
            </a:endParaRPr>
          </a:p>
          <a:p>
            <a:r>
              <a:rPr sz="1600" dirty="0">
                <a:solidFill>
                  <a:srgbClr val="C8C8C8"/>
                </a:solidFill>
              </a:rPr>
              <a:t>FUTURE WORK</a:t>
            </a:r>
          </a:p>
          <a:p>
            <a:endParaRPr sz="1600" dirty="0">
              <a:solidFill>
                <a:srgbClr val="C8C8C8"/>
              </a:solidFill>
            </a:endParaRPr>
          </a:p>
          <a:p>
            <a:r>
              <a:rPr sz="1600" dirty="0">
                <a:solidFill>
                  <a:srgbClr val="C8C8C8"/>
                </a:solidFill>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INTRODUCTION </a:t>
            </a:r>
            <a:br>
              <a:rPr lang="en-IN" dirty="0">
                <a:solidFill>
                  <a:srgbClr val="C8C8C8"/>
                </a:solidFill>
              </a:rPr>
            </a:br>
            <a:endParaRPr dirty="0"/>
          </a:p>
        </p:txBody>
      </p:sp>
      <p:sp>
        <p:nvSpPr>
          <p:cNvPr id="3" name="Content Placeholder 2"/>
          <p:cNvSpPr>
            <a:spLocks noGrp="1"/>
          </p:cNvSpPr>
          <p:nvPr>
            <p:ph idx="1"/>
          </p:nvPr>
        </p:nvSpPr>
        <p:spPr/>
        <p:txBody>
          <a:bodyPr>
            <a:normAutofit/>
          </a:bodyPr>
          <a:lstStyle/>
          <a:p>
            <a:pPr marL="0" indent="0">
              <a:buNone/>
            </a:pPr>
            <a:endParaRPr sz="1600" dirty="0">
              <a:solidFill>
                <a:srgbClr val="C8C8C8"/>
              </a:solidFill>
            </a:endParaRPr>
          </a:p>
          <a:p>
            <a:r>
              <a:rPr sz="1600" dirty="0" err="1">
                <a:solidFill>
                  <a:schemeClr val="bg2"/>
                </a:solidFill>
              </a:rPr>
              <a:t>Scanne</a:t>
            </a:r>
            <a:r>
              <a:rPr lang="en-US" sz="1600" dirty="0">
                <a:solidFill>
                  <a:schemeClr val="bg2"/>
                </a:solidFill>
              </a:rPr>
              <a:t> documents are commonly used in offices, colleges, and legal work. When a document is scanned, every scanner device adds small hidden marks to the image. These marks are caused by differences in the scanner’s sensor, light source, and internal hardware. Although these marks cannot be seen by the human eye, they act like a unique fingerprint for each scanner.</a:t>
            </a:r>
          </a:p>
          <a:p>
            <a:endParaRPr sz="1600" dirty="0">
              <a:solidFill>
                <a:schemeClr val="bg2"/>
              </a:solidFill>
            </a:endParaRPr>
          </a:p>
          <a:p>
            <a:r>
              <a:rPr lang="en-US" sz="1600" dirty="0">
                <a:solidFill>
                  <a:schemeClr val="bg2"/>
                </a:solidFill>
              </a:rPr>
              <a:t>The system provides automatic scanner identification with a confidence score and detailed analysis. A </a:t>
            </a:r>
            <a:r>
              <a:rPr lang="en-US" sz="1600" dirty="0" err="1">
                <a:solidFill>
                  <a:schemeClr val="bg2"/>
                </a:solidFill>
              </a:rPr>
              <a:t>Streamlit</a:t>
            </a:r>
            <a:r>
              <a:rPr lang="en-US" sz="1600" dirty="0">
                <a:solidFill>
                  <a:schemeClr val="bg2"/>
                </a:solidFill>
              </a:rPr>
              <a:t> web application is used to upload images and display the prediction results in a user-friendly dashboard. This makes </a:t>
            </a:r>
            <a:r>
              <a:rPr lang="en-US" sz="1600" dirty="0" err="1">
                <a:solidFill>
                  <a:schemeClr val="bg2"/>
                </a:solidFill>
              </a:rPr>
              <a:t>TraceFinder</a:t>
            </a:r>
            <a:r>
              <a:rPr lang="en-US" sz="1600" dirty="0">
                <a:solidFill>
                  <a:schemeClr val="bg2"/>
                </a:solidFill>
              </a:rPr>
              <a:t> useful for document verification and forensic investigations.</a:t>
            </a:r>
          </a:p>
          <a:p>
            <a:endParaRPr lang="en-US" sz="1600" dirty="0">
              <a:solidFill>
                <a:schemeClr val="bg2"/>
              </a:solidFill>
            </a:endParaRPr>
          </a:p>
          <a:p>
            <a:r>
              <a:rPr lang="en-US" sz="1600" dirty="0">
                <a:solidFill>
                  <a:schemeClr val="bg2"/>
                </a:solidFill>
              </a:rPr>
              <a:t>Identifying these hidden patterns is important in digital forensics. It helps to find out which scanner was used to create a document and whether the document has been changed or misused.</a:t>
            </a:r>
            <a:endParaRPr sz="1600" dirty="0">
              <a:solidFill>
                <a:schemeClr val="bg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438"/>
            <a:ext cx="8229600" cy="1143000"/>
          </a:xfrm>
        </p:spPr>
        <p:txBody>
          <a:bodyPr>
            <a:normAutofit fontScale="90000"/>
          </a:bodyPr>
          <a:lstStyle/>
          <a:p>
            <a:r>
              <a:rPr lang="en-IN" dirty="0">
                <a:solidFill>
                  <a:srgbClr val="C8C8C8"/>
                </a:solidFill>
              </a:rPr>
              <a:t>PROBLEM STATEMENT</a:t>
            </a:r>
            <a:br>
              <a:rPr lang="en-IN" dirty="0">
                <a:solidFill>
                  <a:srgbClr val="C8C8C8"/>
                </a:solidFill>
              </a:rPr>
            </a:br>
            <a:endParaRPr dirty="0"/>
          </a:p>
        </p:txBody>
      </p:sp>
      <p:sp>
        <p:nvSpPr>
          <p:cNvPr id="3" name="Content Placeholder 2"/>
          <p:cNvSpPr>
            <a:spLocks noGrp="1"/>
          </p:cNvSpPr>
          <p:nvPr>
            <p:ph idx="1"/>
          </p:nvPr>
        </p:nvSpPr>
        <p:spPr>
          <a:xfrm>
            <a:off x="457200" y="2068285"/>
            <a:ext cx="8229600" cy="4525963"/>
          </a:xfrm>
        </p:spPr>
        <p:txBody>
          <a:bodyPr/>
          <a:lstStyle/>
          <a:p>
            <a:r>
              <a:rPr sz="1600" dirty="0">
                <a:solidFill>
                  <a:srgbClr val="C8C8C8"/>
                </a:solidFill>
              </a:rPr>
              <a:t>How might we identify the scanner device used to produce a scanned document when scanner information is not explicitly available?</a:t>
            </a:r>
            <a:endParaRPr lang="en-US" sz="1600" dirty="0">
              <a:solidFill>
                <a:srgbClr val="C8C8C8"/>
              </a:solidFill>
            </a:endParaRPr>
          </a:p>
          <a:p>
            <a:pPr marL="0" indent="0">
              <a:buNone/>
            </a:pPr>
            <a:endParaRPr sz="1600" dirty="0">
              <a:solidFill>
                <a:srgbClr val="C8C8C8"/>
              </a:solidFill>
            </a:endParaRPr>
          </a:p>
          <a:p>
            <a:r>
              <a:rPr sz="1600" dirty="0">
                <a:solidFill>
                  <a:srgbClr val="C8C8C8"/>
                </a:solidFill>
              </a:rPr>
              <a:t>How might we detect and utilize invisible scanner-specific artifacts that cannot be recognized by human observation?</a:t>
            </a:r>
            <a:endParaRPr lang="en-US" sz="1600" dirty="0">
              <a:solidFill>
                <a:srgbClr val="C8C8C8"/>
              </a:solidFill>
            </a:endParaRPr>
          </a:p>
          <a:p>
            <a:pPr marL="0" indent="0">
              <a:buNone/>
            </a:pPr>
            <a:endParaRPr sz="1600" dirty="0">
              <a:solidFill>
                <a:srgbClr val="C8C8C8"/>
              </a:solidFill>
            </a:endParaRPr>
          </a:p>
          <a:p>
            <a:r>
              <a:rPr sz="1600" dirty="0">
                <a:solidFill>
                  <a:srgbClr val="C8C8C8"/>
                </a:solidFill>
              </a:rPr>
              <a:t>How might we deploy this system in a practical, user-friendly manner for real-world forensic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OBJECTIVES</a:t>
            </a:r>
            <a:br>
              <a:rPr lang="en-IN" dirty="0">
                <a:solidFill>
                  <a:srgbClr val="C8C8C8"/>
                </a:solidFill>
              </a:rPr>
            </a:br>
            <a:endParaRPr dirty="0"/>
          </a:p>
        </p:txBody>
      </p:sp>
      <p:sp>
        <p:nvSpPr>
          <p:cNvPr id="3" name="Content Placeholder 2"/>
          <p:cNvSpPr>
            <a:spLocks noGrp="1"/>
          </p:cNvSpPr>
          <p:nvPr>
            <p:ph idx="1"/>
          </p:nvPr>
        </p:nvSpPr>
        <p:spPr/>
        <p:txBody>
          <a:bodyPr/>
          <a:lstStyle/>
          <a:p>
            <a:pPr marL="0" indent="0">
              <a:buNone/>
            </a:pPr>
            <a:endParaRPr sz="1600" dirty="0">
              <a:solidFill>
                <a:schemeClr val="bg2"/>
              </a:solidFill>
            </a:endParaRPr>
          </a:p>
          <a:p>
            <a:r>
              <a:rPr lang="en-US" sz="1600" dirty="0">
                <a:solidFill>
                  <a:schemeClr val="bg2"/>
                </a:solidFill>
                <a:highlight>
                  <a:srgbClr val="000000"/>
                </a:highlight>
              </a:rPr>
              <a:t>To identify the source scanner of a scanned document using image processing methods.</a:t>
            </a:r>
            <a:endParaRPr lang="en-US" sz="1600" dirty="0">
              <a:solidFill>
                <a:srgbClr val="C8C8C8"/>
              </a:solidFill>
              <a:highlight>
                <a:srgbClr val="000000"/>
              </a:highlight>
            </a:endParaRPr>
          </a:p>
          <a:p>
            <a:r>
              <a:rPr lang="en-US" sz="1600" dirty="0"/>
              <a:t>To study and analyze scanner-specific noise and texture patterns present in scanned images.</a:t>
            </a:r>
          </a:p>
          <a:p>
            <a:r>
              <a:rPr lang="en-US" sz="1600" dirty="0">
                <a:solidFill>
                  <a:schemeClr val="bg2"/>
                </a:solidFill>
              </a:rPr>
              <a:t>To train and apply machine learning and deep learning models for accurate scanner classification.</a:t>
            </a:r>
          </a:p>
          <a:p>
            <a:pPr marL="0" indent="0">
              <a:buNone/>
            </a:pPr>
            <a:endParaRPr lang="en-US" sz="1600" dirty="0">
              <a:solidFill>
                <a:schemeClr val="bg2"/>
              </a:solidFill>
            </a:endParaRPr>
          </a:p>
          <a:p>
            <a:r>
              <a:rPr lang="en-US" sz="1600" dirty="0">
                <a:solidFill>
                  <a:schemeClr val="bg2"/>
                </a:solidFill>
              </a:rPr>
              <a:t>To measure the system performance using standard evaluation metrics such as accuracy and confidence score.</a:t>
            </a:r>
          </a:p>
          <a:p>
            <a:pPr marL="0" indent="0">
              <a:buNone/>
            </a:pPr>
            <a:endParaRPr lang="en-US" sz="1600" dirty="0">
              <a:solidFill>
                <a:schemeClr val="bg2"/>
              </a:solidFill>
            </a:endParaRPr>
          </a:p>
          <a:p>
            <a:r>
              <a:rPr lang="en-US" sz="1600" dirty="0">
                <a:solidFill>
                  <a:schemeClr val="bg2"/>
                </a:solidFill>
              </a:rPr>
              <a:t>To develop a user-friendly web application for real-time scanner identification and result visualization.</a:t>
            </a:r>
          </a:p>
          <a:p>
            <a:endParaRPr sz="1600" dirty="0">
              <a:solidFill>
                <a:schemeClr val="bg2"/>
              </a:solidFill>
              <a:highlight>
                <a:srgbClr val="00000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WORKFLOW</a:t>
            </a:r>
            <a:br>
              <a:rPr lang="en-IN" dirty="0">
                <a:solidFill>
                  <a:srgbClr val="C8C8C8"/>
                </a:solidFill>
              </a:rPr>
            </a:br>
            <a:endParaRPr dirty="0"/>
          </a:p>
        </p:txBody>
      </p:sp>
      <p:sp>
        <p:nvSpPr>
          <p:cNvPr id="3" name="Content Placeholder 2"/>
          <p:cNvSpPr>
            <a:spLocks noGrp="1"/>
          </p:cNvSpPr>
          <p:nvPr>
            <p:ph idx="1"/>
          </p:nvPr>
        </p:nvSpPr>
        <p:spPr/>
        <p:txBody>
          <a:bodyPr/>
          <a:lstStyle/>
          <a:p>
            <a:r>
              <a:rPr lang="en-US" sz="1600" dirty="0">
                <a:solidFill>
                  <a:schemeClr val="bg2"/>
                </a:solidFill>
              </a:rPr>
              <a:t>• Collect scanned document images from multiple scanner devices and datasets.</a:t>
            </a:r>
          </a:p>
          <a:p>
            <a:r>
              <a:rPr lang="en-US" sz="1600" dirty="0">
                <a:solidFill>
                  <a:schemeClr val="bg2"/>
                </a:solidFill>
              </a:rPr>
              <a:t>• Organize the dataset into scanner-wise folders for proper labeling.</a:t>
            </a:r>
          </a:p>
          <a:p>
            <a:r>
              <a:rPr lang="en-US" sz="1600" dirty="0">
                <a:solidFill>
                  <a:schemeClr val="bg2"/>
                </a:solidFill>
              </a:rPr>
              <a:t>• Preprocess images by resizing, normalization, and noise enhancement to improve model learning.</a:t>
            </a:r>
          </a:p>
          <a:p>
            <a:r>
              <a:rPr lang="en-US" sz="1600" dirty="0">
                <a:solidFill>
                  <a:schemeClr val="bg2"/>
                </a:solidFill>
              </a:rPr>
              <a:t>• Split the dataset into training and validation sets.</a:t>
            </a:r>
          </a:p>
          <a:p>
            <a:r>
              <a:rPr lang="en-US" sz="1600" dirty="0">
                <a:solidFill>
                  <a:schemeClr val="bg2"/>
                </a:solidFill>
              </a:rPr>
              <a:t>• Train a Convolutional Neural Network (CNN) model to learn scanner-specific patterns.</a:t>
            </a:r>
          </a:p>
          <a:p>
            <a:r>
              <a:rPr lang="en-US" sz="1600" dirty="0">
                <a:solidFill>
                  <a:schemeClr val="bg2"/>
                </a:solidFill>
              </a:rPr>
              <a:t>• Evaluate the trained model using accuracy and validation metrics.</a:t>
            </a:r>
          </a:p>
          <a:p>
            <a:r>
              <a:rPr lang="en-US" sz="1600" dirty="0">
                <a:solidFill>
                  <a:schemeClr val="bg2"/>
                </a:solidFill>
              </a:rPr>
              <a:t>• Save the trained model for deployment.</a:t>
            </a:r>
          </a:p>
          <a:p>
            <a:r>
              <a:rPr lang="en-US" sz="1600" dirty="0">
                <a:solidFill>
                  <a:schemeClr val="bg2"/>
                </a:solidFill>
              </a:rPr>
              <a:t>• Build a </a:t>
            </a:r>
            <a:r>
              <a:rPr lang="en-US" sz="1600" dirty="0" err="1">
                <a:solidFill>
                  <a:schemeClr val="bg2"/>
                </a:solidFill>
              </a:rPr>
              <a:t>Streamlit</a:t>
            </a:r>
            <a:r>
              <a:rPr lang="en-US" sz="1600" dirty="0">
                <a:solidFill>
                  <a:schemeClr val="bg2"/>
                </a:solidFill>
              </a:rPr>
              <a:t> web application for uploading scanned images.</a:t>
            </a:r>
          </a:p>
          <a:p>
            <a:r>
              <a:rPr lang="en-US" sz="1600" dirty="0">
                <a:solidFill>
                  <a:schemeClr val="bg2"/>
                </a:solidFill>
              </a:rPr>
              <a:t>• Predict the scanner source and display confidence score and analysis on the dashboard.</a:t>
            </a:r>
          </a:p>
          <a:p>
            <a:endParaRPr sz="1600" dirty="0">
              <a:solidFill>
                <a:srgbClr val="C8C8C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372609"/>
            <a:ext cx="8229600" cy="1143000"/>
          </a:xfrm>
        </p:spPr>
        <p:txBody>
          <a:bodyPr>
            <a:normAutofit fontScale="90000"/>
          </a:bodyPr>
          <a:lstStyle/>
          <a:p>
            <a:r>
              <a:rPr lang="en-IN" dirty="0">
                <a:solidFill>
                  <a:srgbClr val="C8C8C8"/>
                </a:solidFill>
              </a:rPr>
              <a:t>METHODOLOGY</a:t>
            </a:r>
            <a:br>
              <a:rPr lang="en-IN" dirty="0">
                <a:solidFill>
                  <a:srgbClr val="C8C8C8"/>
                </a:solidFill>
              </a:rPr>
            </a:br>
            <a:endParaRPr dirty="0"/>
          </a:p>
        </p:txBody>
      </p:sp>
      <p:sp>
        <p:nvSpPr>
          <p:cNvPr id="3" name="Content Placeholder 2"/>
          <p:cNvSpPr>
            <a:spLocks noGrp="1"/>
          </p:cNvSpPr>
          <p:nvPr>
            <p:ph idx="1"/>
          </p:nvPr>
        </p:nvSpPr>
        <p:spPr/>
        <p:txBody>
          <a:bodyPr/>
          <a:lstStyle/>
          <a:p>
            <a:r>
              <a:rPr lang="en-US" sz="1600" dirty="0">
                <a:solidFill>
                  <a:schemeClr val="bg2"/>
                </a:solidFill>
              </a:rPr>
              <a:t>• Scanned document images are collected from </a:t>
            </a:r>
            <a:r>
              <a:rPr lang="en-US" sz="1600" b="1" dirty="0">
                <a:solidFill>
                  <a:schemeClr val="bg2"/>
                </a:solidFill>
              </a:rPr>
              <a:t>11 different scanner models</a:t>
            </a:r>
            <a:r>
              <a:rPr lang="en-US" sz="1600" dirty="0">
                <a:solidFill>
                  <a:schemeClr val="bg2"/>
                </a:solidFill>
              </a:rPr>
              <a:t>.</a:t>
            </a:r>
          </a:p>
          <a:p>
            <a:pPr marL="0" indent="0">
              <a:buNone/>
            </a:pPr>
            <a:endParaRPr lang="en-US" sz="1600" dirty="0">
              <a:solidFill>
                <a:schemeClr val="bg2"/>
              </a:solidFill>
            </a:endParaRPr>
          </a:p>
          <a:p>
            <a:r>
              <a:rPr lang="en-US" sz="1600" dirty="0">
                <a:solidFill>
                  <a:schemeClr val="bg2"/>
                </a:solidFill>
              </a:rPr>
              <a:t>• The dataset includes </a:t>
            </a:r>
            <a:r>
              <a:rPr lang="en-US" sz="1600" b="1" dirty="0">
                <a:solidFill>
                  <a:schemeClr val="bg2"/>
                </a:solidFill>
              </a:rPr>
              <a:t>flatfield images, official documents, and printed Wikipedia pages</a:t>
            </a:r>
            <a:r>
              <a:rPr lang="en-US" sz="1600" dirty="0">
                <a:solidFill>
                  <a:schemeClr val="bg2"/>
                </a:solidFill>
              </a:rPr>
              <a:t>.</a:t>
            </a:r>
          </a:p>
          <a:p>
            <a:pPr marL="0" indent="0">
              <a:buNone/>
            </a:pPr>
            <a:endParaRPr lang="en-US" sz="1600" dirty="0">
              <a:solidFill>
                <a:schemeClr val="bg2"/>
              </a:solidFill>
            </a:endParaRPr>
          </a:p>
          <a:p>
            <a:r>
              <a:rPr lang="en-US" sz="1600" dirty="0">
                <a:solidFill>
                  <a:schemeClr val="bg2"/>
                </a:solidFill>
              </a:rPr>
              <a:t>• Images are scanned at </a:t>
            </a:r>
            <a:r>
              <a:rPr lang="en-US" sz="1600" b="1" dirty="0">
                <a:solidFill>
                  <a:schemeClr val="bg2"/>
                </a:solidFill>
              </a:rPr>
              <a:t>150 DPI and 300 DPI</a:t>
            </a:r>
            <a:r>
              <a:rPr lang="en-US" sz="1600" dirty="0">
                <a:solidFill>
                  <a:schemeClr val="bg2"/>
                </a:solidFill>
              </a:rPr>
              <a:t> to capture different quality levels.</a:t>
            </a:r>
          </a:p>
          <a:p>
            <a:endParaRPr lang="en-US" sz="1600" dirty="0">
              <a:solidFill>
                <a:schemeClr val="bg2"/>
              </a:solidFill>
            </a:endParaRPr>
          </a:p>
          <a:p>
            <a:r>
              <a:rPr lang="en-US" sz="1600" dirty="0">
                <a:solidFill>
                  <a:schemeClr val="bg2"/>
                </a:solidFill>
              </a:rPr>
              <a:t>• All images are converted into </a:t>
            </a:r>
            <a:r>
              <a:rPr lang="en-US" sz="1600" b="1" dirty="0">
                <a:solidFill>
                  <a:schemeClr val="bg2"/>
                </a:solidFill>
              </a:rPr>
              <a:t>grayscale and 8-bit format</a:t>
            </a:r>
            <a:r>
              <a:rPr lang="en-US" sz="1600" dirty="0">
                <a:solidFill>
                  <a:schemeClr val="bg2"/>
                </a:solidFill>
              </a:rPr>
              <a:t> for uniform processing.</a:t>
            </a:r>
          </a:p>
          <a:p>
            <a:pPr marL="0" indent="0">
              <a:buNone/>
            </a:pPr>
            <a:endParaRPr lang="en-US" sz="1600" dirty="0">
              <a:solidFill>
                <a:schemeClr val="bg2"/>
              </a:solidFill>
            </a:endParaRPr>
          </a:p>
          <a:p>
            <a:r>
              <a:rPr lang="en-US" sz="1600" dirty="0">
                <a:solidFill>
                  <a:schemeClr val="bg2"/>
                </a:solidFill>
              </a:rPr>
              <a:t>• Images are </a:t>
            </a:r>
            <a:r>
              <a:rPr lang="en-US" sz="1600" b="1" dirty="0">
                <a:solidFill>
                  <a:schemeClr val="bg2"/>
                </a:solidFill>
              </a:rPr>
              <a:t>resized and center-cropped</a:t>
            </a:r>
            <a:r>
              <a:rPr lang="en-US" sz="1600" dirty="0">
                <a:solidFill>
                  <a:schemeClr val="bg2"/>
                </a:solidFill>
              </a:rPr>
              <a:t> to a fixed input size required by the model.</a:t>
            </a:r>
          </a:p>
          <a:p>
            <a:pPr marL="0" indent="0">
              <a:buNone/>
            </a:pPr>
            <a:endParaRPr lang="en-US" sz="1600" dirty="0">
              <a:solidFill>
                <a:schemeClr val="bg2"/>
              </a:solidFill>
            </a:endParaRPr>
          </a:p>
          <a:p>
            <a:r>
              <a:rPr lang="en-US" sz="1600" dirty="0">
                <a:solidFill>
                  <a:schemeClr val="bg2"/>
                </a:solidFill>
              </a:rPr>
              <a:t>• Pixel values are </a:t>
            </a:r>
            <a:r>
              <a:rPr lang="en-US" sz="1600" b="1" dirty="0">
                <a:solidFill>
                  <a:schemeClr val="bg2"/>
                </a:solidFill>
              </a:rPr>
              <a:t>normalized</a:t>
            </a:r>
            <a:r>
              <a:rPr lang="en-US" sz="1600" dirty="0">
                <a:solidFill>
                  <a:schemeClr val="bg2"/>
                </a:solidFill>
              </a:rPr>
              <a:t> to ensure consistent input and faster model training</a:t>
            </a:r>
          </a:p>
          <a:p>
            <a:pPr marL="0" indent="0">
              <a:buNone/>
            </a:pPr>
            <a:endParaRPr sz="1600" dirty="0">
              <a:solidFill>
                <a:srgbClr val="C8C8C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87828"/>
            <a:ext cx="8229600" cy="4525963"/>
          </a:xfrm>
        </p:spPr>
        <p:txBody>
          <a:bodyPr/>
          <a:lstStyle/>
          <a:p>
            <a:pPr marL="0" indent="0">
              <a:buNone/>
            </a:pPr>
            <a:endParaRPr sz="1600" dirty="0">
              <a:solidFill>
                <a:srgbClr val="C8C8C8"/>
              </a:solidFill>
            </a:endParaRPr>
          </a:p>
          <a:p>
            <a:endParaRPr sz="1600" dirty="0">
              <a:solidFill>
                <a:srgbClr val="C8C8C8"/>
              </a:solidFill>
            </a:endParaRPr>
          </a:p>
          <a:p>
            <a:r>
              <a:rPr sz="1600" dirty="0">
                <a:solidFill>
                  <a:srgbClr val="C8C8C8"/>
                </a:solidFill>
              </a:rPr>
              <a:t>Feature Engineering and Baseline Modeling</a:t>
            </a:r>
          </a:p>
          <a:p>
            <a:r>
              <a:rPr sz="1600" dirty="0">
                <a:solidFill>
                  <a:srgbClr val="C8C8C8"/>
                </a:solidFill>
              </a:rPr>
              <a:t>Extraction of noise residuals to highlight scanner-specific artifacts</a:t>
            </a:r>
          </a:p>
          <a:p>
            <a:r>
              <a:rPr sz="1600" dirty="0">
                <a:solidFill>
                  <a:srgbClr val="C8C8C8"/>
                </a:solidFill>
              </a:rPr>
              <a:t>Computation of statistical noise features such as mean and variance</a:t>
            </a:r>
          </a:p>
          <a:p>
            <a:r>
              <a:rPr sz="1600" dirty="0">
                <a:solidFill>
                  <a:srgbClr val="C8C8C8"/>
                </a:solidFill>
              </a:rPr>
              <a:t>Frequency-domain feature extraction using FFT band energies</a:t>
            </a:r>
          </a:p>
          <a:p>
            <a:r>
              <a:rPr sz="1600" dirty="0">
                <a:solidFill>
                  <a:srgbClr val="C8C8C8"/>
                </a:solidFill>
              </a:rPr>
              <a:t>Texture analysis using Local Binary Patterns (LBP)</a:t>
            </a:r>
          </a:p>
          <a:p>
            <a:r>
              <a:rPr sz="1600" dirty="0">
                <a:solidFill>
                  <a:srgbClr val="C8C8C8"/>
                </a:solidFill>
              </a:rPr>
              <a:t>Training of Random Forest and Support Vector Machine classifiers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marL="0" indent="0">
              <a:buNone/>
            </a:pPr>
            <a:endParaRPr sz="1600" dirty="0">
              <a:solidFill>
                <a:schemeClr val="bg2"/>
              </a:solidFill>
            </a:endParaRPr>
          </a:p>
          <a:p>
            <a:r>
              <a:rPr lang="en-US" sz="1600" dirty="0">
                <a:solidFill>
                  <a:schemeClr val="bg2"/>
                </a:solidFill>
              </a:rPr>
              <a:t>• A model is created to learn and recognize different scanner patterns from images.</a:t>
            </a:r>
          </a:p>
          <a:p>
            <a:pPr marL="0" indent="0">
              <a:buNone/>
            </a:pPr>
            <a:endParaRPr lang="en-US" sz="1600" dirty="0">
              <a:solidFill>
                <a:schemeClr val="bg2"/>
              </a:solidFill>
            </a:endParaRPr>
          </a:p>
          <a:p>
            <a:r>
              <a:rPr lang="en-US" sz="1600" dirty="0">
                <a:solidFill>
                  <a:schemeClr val="bg2"/>
                </a:solidFill>
              </a:rPr>
              <a:t>• The model is designed to correctly classify images based on the scanner that created them.</a:t>
            </a:r>
          </a:p>
          <a:p>
            <a:pPr marL="0" indent="0">
              <a:buNone/>
            </a:pPr>
            <a:endParaRPr lang="en-US" sz="1600" dirty="0">
              <a:solidFill>
                <a:schemeClr val="bg2"/>
              </a:solidFill>
            </a:endParaRPr>
          </a:p>
          <a:p>
            <a:r>
              <a:rPr lang="en-US" sz="1600" dirty="0">
                <a:solidFill>
                  <a:schemeClr val="bg2"/>
                </a:solidFill>
              </a:rPr>
              <a:t>• All images are resized so that they match the required input size of the model.</a:t>
            </a:r>
          </a:p>
          <a:p>
            <a:pPr marL="0" indent="0">
              <a:buNone/>
            </a:pPr>
            <a:endParaRPr lang="en-US" sz="1600" dirty="0">
              <a:solidFill>
                <a:schemeClr val="bg2"/>
              </a:solidFill>
            </a:endParaRPr>
          </a:p>
          <a:p>
            <a:r>
              <a:rPr lang="en-US" sz="1600" dirty="0">
                <a:solidFill>
                  <a:schemeClr val="bg2"/>
                </a:solidFill>
              </a:rPr>
              <a:t>• Extra image changes are added during training to help the model learn better and work well on new images.</a:t>
            </a:r>
          </a:p>
          <a:p>
            <a:pPr marL="0" indent="0">
              <a:buNone/>
            </a:pPr>
            <a:endParaRPr lang="en-US" sz="1600" dirty="0">
              <a:solidFill>
                <a:schemeClr val="bg2"/>
              </a:solidFill>
            </a:endParaRPr>
          </a:p>
          <a:p>
            <a:r>
              <a:rPr lang="en-US" sz="1600" dirty="0">
                <a:solidFill>
                  <a:schemeClr val="bg2"/>
                </a:solidFill>
              </a:rPr>
              <a:t>• The model is trained step by step to reduce errors and improve accuracy.</a:t>
            </a:r>
          </a:p>
          <a:p>
            <a:pPr marL="0" indent="0">
              <a:buNone/>
            </a:pPr>
            <a:endParaRPr lang="en-US" sz="1600" dirty="0">
              <a:solidFill>
                <a:schemeClr val="bg2"/>
              </a:solidFill>
            </a:endParaRPr>
          </a:p>
          <a:p>
            <a:r>
              <a:rPr lang="en-US" sz="1600" dirty="0">
                <a:solidFill>
                  <a:schemeClr val="bg2"/>
                </a:solidFill>
              </a:rPr>
              <a:t>• The trained model is tested using new images to check its performance.</a:t>
            </a:r>
          </a:p>
          <a:p>
            <a:endParaRPr lang="en-IN" sz="1600" dirty="0">
              <a:solidFill>
                <a:srgbClr val="C8C8C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a:xfrm>
            <a:off x="457200" y="1338942"/>
            <a:ext cx="8229600" cy="4525963"/>
          </a:xfrm>
        </p:spPr>
        <p:txBody>
          <a:bodyPr/>
          <a:lstStyle/>
          <a:p>
            <a:pPr marL="0" indent="0">
              <a:buNone/>
            </a:pPr>
            <a:endParaRPr lang="en-US" sz="1600" dirty="0">
              <a:solidFill>
                <a:srgbClr val="C8C8C8"/>
              </a:solidFill>
            </a:endParaRPr>
          </a:p>
          <a:p>
            <a:r>
              <a:rPr lang="en-US" sz="1600" dirty="0">
                <a:solidFill>
                  <a:schemeClr val="bg2"/>
                </a:solidFill>
              </a:rPr>
              <a:t>• The trained model is connected to a </a:t>
            </a:r>
            <a:r>
              <a:rPr lang="en-US" sz="1600" b="1" dirty="0" err="1">
                <a:solidFill>
                  <a:schemeClr val="bg2"/>
                </a:solidFill>
              </a:rPr>
              <a:t>Streamlit</a:t>
            </a:r>
            <a:r>
              <a:rPr lang="en-US" sz="1600" b="1" dirty="0">
                <a:solidFill>
                  <a:schemeClr val="bg2"/>
                </a:solidFill>
              </a:rPr>
              <a:t> web application</a:t>
            </a:r>
            <a:r>
              <a:rPr lang="en-US" sz="1600" dirty="0">
                <a:solidFill>
                  <a:schemeClr val="bg2"/>
                </a:solidFill>
              </a:rPr>
              <a:t>.</a:t>
            </a:r>
          </a:p>
          <a:p>
            <a:pPr marL="0" indent="0">
              <a:buNone/>
            </a:pPr>
            <a:endParaRPr lang="en-US" sz="1600" dirty="0">
              <a:solidFill>
                <a:schemeClr val="bg2"/>
              </a:solidFill>
            </a:endParaRPr>
          </a:p>
          <a:p>
            <a:r>
              <a:rPr lang="en-US" sz="1600" dirty="0">
                <a:solidFill>
                  <a:schemeClr val="bg2"/>
                </a:solidFill>
              </a:rPr>
              <a:t>• Users can upload scanned images easily through the </a:t>
            </a:r>
            <a:r>
              <a:rPr lang="en-US" sz="1600" dirty="0" err="1">
                <a:solidFill>
                  <a:schemeClr val="bg2"/>
                </a:solidFill>
              </a:rPr>
              <a:t>Streamlit</a:t>
            </a:r>
            <a:r>
              <a:rPr lang="en-US" sz="1600" dirty="0">
                <a:solidFill>
                  <a:schemeClr val="bg2"/>
                </a:solidFill>
              </a:rPr>
              <a:t> interface.</a:t>
            </a:r>
          </a:p>
          <a:p>
            <a:pPr marL="0" indent="0">
              <a:buNone/>
            </a:pPr>
            <a:endParaRPr lang="en-US" sz="1600" dirty="0">
              <a:solidFill>
                <a:schemeClr val="bg2"/>
              </a:solidFill>
            </a:endParaRPr>
          </a:p>
          <a:p>
            <a:r>
              <a:rPr lang="en-US" sz="1600" dirty="0">
                <a:solidFill>
                  <a:schemeClr val="bg2"/>
                </a:solidFill>
              </a:rPr>
              <a:t>• The system analyzes the image and shows the result instantly.</a:t>
            </a:r>
          </a:p>
          <a:p>
            <a:pPr marL="0" indent="0">
              <a:buNone/>
            </a:pPr>
            <a:endParaRPr lang="en-US" sz="1600" dirty="0">
              <a:solidFill>
                <a:schemeClr val="bg2"/>
              </a:solidFill>
            </a:endParaRPr>
          </a:p>
          <a:p>
            <a:r>
              <a:rPr lang="en-US" sz="1600" dirty="0">
                <a:solidFill>
                  <a:schemeClr val="bg2"/>
                </a:solidFill>
              </a:rPr>
              <a:t>• The scanner name, image quality (DPI), and confidence level are displayed clearly on the screen.</a:t>
            </a:r>
          </a:p>
          <a:p>
            <a:pPr marL="0" indent="0">
              <a:buNone/>
            </a:pPr>
            <a:endParaRPr lang="en-US" sz="1600" dirty="0">
              <a:solidFill>
                <a:schemeClr val="bg2"/>
              </a:solidFill>
            </a:endParaRPr>
          </a:p>
          <a:p>
            <a:r>
              <a:rPr lang="en-US" sz="1600" dirty="0">
                <a:solidFill>
                  <a:schemeClr val="bg2"/>
                </a:solidFill>
              </a:rPr>
              <a:t>• The results are saved and can be downloaded as a file for future use.</a:t>
            </a:r>
          </a:p>
          <a:p>
            <a:pPr marL="0" indent="0">
              <a:buNone/>
            </a:pPr>
            <a:endParaRPr sz="1600" dirty="0">
              <a:solidFill>
                <a:srgbClr val="C8C8C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r>
              <a:rPr lang="en-IN" dirty="0">
                <a:solidFill>
                  <a:srgbClr val="C8C8C8"/>
                </a:solidFill>
              </a:rPr>
              <a:t>TECHNOLOGIES USED</a:t>
            </a:r>
            <a:br>
              <a:rPr lang="en-IN" dirty="0">
                <a:solidFill>
                  <a:srgbClr val="C8C8C8"/>
                </a:solidFill>
              </a:rPr>
            </a:br>
            <a:endParaRPr dirty="0"/>
          </a:p>
        </p:txBody>
      </p:sp>
      <p:sp>
        <p:nvSpPr>
          <p:cNvPr id="3" name="Content Placeholder 2"/>
          <p:cNvSpPr>
            <a:spLocks noGrp="1"/>
          </p:cNvSpPr>
          <p:nvPr>
            <p:ph idx="1"/>
          </p:nvPr>
        </p:nvSpPr>
        <p:spPr/>
        <p:txBody>
          <a:bodyPr/>
          <a:lstStyle/>
          <a:p>
            <a:endParaRPr sz="1600" dirty="0">
              <a:solidFill>
                <a:schemeClr val="bg2"/>
              </a:solidFill>
            </a:endParaRPr>
          </a:p>
          <a:p>
            <a:r>
              <a:rPr lang="en-US" sz="1600" dirty="0">
                <a:solidFill>
                  <a:schemeClr val="bg2"/>
                </a:solidFill>
              </a:rPr>
              <a:t>• </a:t>
            </a:r>
            <a:r>
              <a:rPr lang="en-US" sz="1600" b="1" dirty="0">
                <a:solidFill>
                  <a:schemeClr val="bg2"/>
                </a:solidFill>
              </a:rPr>
              <a:t>Python</a:t>
            </a:r>
            <a:r>
              <a:rPr lang="en-US" sz="1600" dirty="0">
                <a:solidFill>
                  <a:schemeClr val="bg2"/>
                </a:solidFill>
              </a:rPr>
              <a:t> – Main programming language used for coding and model building.</a:t>
            </a:r>
          </a:p>
          <a:p>
            <a:endParaRPr lang="en-US" sz="1600" dirty="0">
              <a:solidFill>
                <a:schemeClr val="bg2"/>
              </a:solidFill>
            </a:endParaRPr>
          </a:p>
          <a:p>
            <a:r>
              <a:rPr lang="en-US" sz="1600" dirty="0">
                <a:solidFill>
                  <a:schemeClr val="bg2"/>
                </a:solidFill>
              </a:rPr>
              <a:t>• </a:t>
            </a:r>
            <a:r>
              <a:rPr lang="en-US" sz="1600" b="1" dirty="0">
                <a:solidFill>
                  <a:schemeClr val="bg2"/>
                </a:solidFill>
              </a:rPr>
              <a:t>OpenCV</a:t>
            </a:r>
            <a:r>
              <a:rPr lang="en-US" sz="1600" dirty="0">
                <a:solidFill>
                  <a:schemeClr val="bg2"/>
                </a:solidFill>
              </a:rPr>
              <a:t> – Used for image processing and improving image quality.</a:t>
            </a:r>
          </a:p>
          <a:p>
            <a:endParaRPr lang="en-US" sz="1600" dirty="0">
              <a:solidFill>
                <a:schemeClr val="bg2"/>
              </a:solidFill>
            </a:endParaRPr>
          </a:p>
          <a:p>
            <a:r>
              <a:rPr lang="en-US" sz="1600" dirty="0">
                <a:solidFill>
                  <a:schemeClr val="bg2"/>
                </a:solidFill>
              </a:rPr>
              <a:t>• </a:t>
            </a:r>
            <a:r>
              <a:rPr lang="en-US" sz="1600" b="1" dirty="0">
                <a:solidFill>
                  <a:schemeClr val="bg2"/>
                </a:solidFill>
              </a:rPr>
              <a:t>NumPy &amp; Pandas</a:t>
            </a:r>
            <a:r>
              <a:rPr lang="en-US" sz="1600" dirty="0">
                <a:solidFill>
                  <a:schemeClr val="bg2"/>
                </a:solidFill>
              </a:rPr>
              <a:t> – Used for handling data and managing datasets.</a:t>
            </a:r>
          </a:p>
          <a:p>
            <a:endParaRPr lang="en-US" sz="1600" dirty="0">
              <a:solidFill>
                <a:schemeClr val="bg2"/>
              </a:solidFill>
            </a:endParaRPr>
          </a:p>
          <a:p>
            <a:r>
              <a:rPr lang="en-US" sz="1600" dirty="0">
                <a:solidFill>
                  <a:schemeClr val="bg2"/>
                </a:solidFill>
              </a:rPr>
              <a:t>• </a:t>
            </a:r>
            <a:r>
              <a:rPr lang="en-US" sz="1600" b="1" dirty="0">
                <a:solidFill>
                  <a:schemeClr val="bg2"/>
                </a:solidFill>
              </a:rPr>
              <a:t>Scikit-learn</a:t>
            </a:r>
            <a:r>
              <a:rPr lang="en-US" sz="1600" dirty="0">
                <a:solidFill>
                  <a:schemeClr val="bg2"/>
                </a:solidFill>
              </a:rPr>
              <a:t> – Used for basic machine learning training and testing.</a:t>
            </a:r>
          </a:p>
          <a:p>
            <a:endParaRPr lang="en-US" sz="1600" dirty="0">
              <a:solidFill>
                <a:schemeClr val="bg2"/>
              </a:solidFill>
            </a:endParaRPr>
          </a:p>
          <a:p>
            <a:r>
              <a:rPr lang="en-US" sz="1600" dirty="0">
                <a:solidFill>
                  <a:schemeClr val="bg2"/>
                </a:solidFill>
              </a:rPr>
              <a:t>• </a:t>
            </a:r>
            <a:r>
              <a:rPr lang="en-US" sz="1600" b="1" dirty="0">
                <a:solidFill>
                  <a:schemeClr val="bg2"/>
                </a:solidFill>
              </a:rPr>
              <a:t>TensorFlow / </a:t>
            </a:r>
            <a:r>
              <a:rPr lang="en-US" sz="1600" b="1" dirty="0" err="1">
                <a:solidFill>
                  <a:schemeClr val="bg2"/>
                </a:solidFill>
              </a:rPr>
              <a:t>Keras</a:t>
            </a:r>
            <a:r>
              <a:rPr lang="en-US" sz="1600" dirty="0">
                <a:solidFill>
                  <a:schemeClr val="bg2"/>
                </a:solidFill>
              </a:rPr>
              <a:t> – Used to build and train the deep learning model.</a:t>
            </a:r>
          </a:p>
          <a:p>
            <a:endParaRPr lang="en-US" sz="1600" dirty="0">
              <a:solidFill>
                <a:schemeClr val="bg2"/>
              </a:solidFill>
            </a:endParaRPr>
          </a:p>
          <a:p>
            <a:r>
              <a:rPr lang="en-US" sz="1600" dirty="0">
                <a:solidFill>
                  <a:schemeClr val="bg2"/>
                </a:solidFill>
              </a:rPr>
              <a:t>• </a:t>
            </a:r>
            <a:r>
              <a:rPr lang="en-US" sz="1600" b="1" dirty="0" err="1">
                <a:solidFill>
                  <a:schemeClr val="bg2"/>
                </a:solidFill>
              </a:rPr>
              <a:t>Streamlit</a:t>
            </a:r>
            <a:r>
              <a:rPr lang="en-US" sz="1600" dirty="0">
                <a:solidFill>
                  <a:schemeClr val="bg2"/>
                </a:solidFill>
              </a:rPr>
              <a:t> – Used to create the web application and display results.</a:t>
            </a:r>
          </a:p>
          <a:p>
            <a:endParaRPr sz="1600" dirty="0">
              <a:solidFill>
                <a:srgbClr val="C8C8C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438"/>
            <a:ext cx="8229600" cy="1143000"/>
          </a:xfrm>
        </p:spPr>
        <p:txBody>
          <a:bodyPr>
            <a:normAutofit fontScale="90000"/>
          </a:bodyPr>
          <a:lstStyle/>
          <a:p>
            <a:r>
              <a:rPr lang="en-IN" dirty="0">
                <a:solidFill>
                  <a:srgbClr val="C8C8C8"/>
                </a:solidFill>
              </a:rPr>
              <a:t>OUTPUT</a:t>
            </a:r>
            <a:br>
              <a:rPr lang="en-IN" dirty="0">
                <a:solidFill>
                  <a:srgbClr val="C8C8C8"/>
                </a:solidFill>
              </a:rPr>
            </a:br>
            <a:br>
              <a:rPr lang="en-IN" dirty="0">
                <a:solidFill>
                  <a:srgbClr val="C8C8C8"/>
                </a:solidFill>
              </a:rPr>
            </a:br>
            <a:endParaRPr dirty="0"/>
          </a:p>
        </p:txBody>
      </p:sp>
      <p:sp>
        <p:nvSpPr>
          <p:cNvPr id="3" name="Content Placeholder 2"/>
          <p:cNvSpPr>
            <a:spLocks noGrp="1"/>
          </p:cNvSpPr>
          <p:nvPr>
            <p:ph idx="1"/>
          </p:nvPr>
        </p:nvSpPr>
        <p:spPr/>
        <p:txBody>
          <a:bodyPr/>
          <a:lstStyle/>
          <a:p>
            <a:r>
              <a:rPr lang="en-US" sz="1600" dirty="0">
                <a:solidFill>
                  <a:schemeClr val="bg2"/>
                </a:solidFill>
              </a:rPr>
              <a:t>• The user uploads a scanned document image through the web application.</a:t>
            </a:r>
          </a:p>
          <a:p>
            <a:endParaRPr lang="en-US" sz="1600" dirty="0">
              <a:solidFill>
                <a:schemeClr val="bg2"/>
              </a:solidFill>
            </a:endParaRPr>
          </a:p>
          <a:p>
            <a:r>
              <a:rPr lang="en-US" sz="1600" dirty="0">
                <a:solidFill>
                  <a:schemeClr val="bg2"/>
                </a:solidFill>
              </a:rPr>
              <a:t>• The system processes the image and identifies the scanner source.</a:t>
            </a:r>
          </a:p>
          <a:p>
            <a:endParaRPr lang="en-US" sz="1600" dirty="0">
              <a:solidFill>
                <a:schemeClr val="bg2"/>
              </a:solidFill>
            </a:endParaRPr>
          </a:p>
          <a:p>
            <a:r>
              <a:rPr lang="en-US" sz="1600" dirty="0">
                <a:solidFill>
                  <a:schemeClr val="bg2"/>
                </a:solidFill>
              </a:rPr>
              <a:t>• The predicted scanner name is displayed on the screen.</a:t>
            </a:r>
          </a:p>
          <a:p>
            <a:endParaRPr lang="en-US" sz="1600" dirty="0">
              <a:solidFill>
                <a:schemeClr val="bg2"/>
              </a:solidFill>
            </a:endParaRPr>
          </a:p>
          <a:p>
            <a:r>
              <a:rPr lang="en-US" sz="1600" dirty="0">
                <a:solidFill>
                  <a:schemeClr val="bg2"/>
                </a:solidFill>
              </a:rPr>
              <a:t>• A confidence score shows how reliable the prediction is.</a:t>
            </a:r>
          </a:p>
          <a:p>
            <a:endParaRPr lang="en-US" sz="1600" dirty="0">
              <a:solidFill>
                <a:schemeClr val="bg2"/>
              </a:solidFill>
            </a:endParaRPr>
          </a:p>
          <a:p>
            <a:r>
              <a:rPr lang="en-US" sz="1600" dirty="0">
                <a:solidFill>
                  <a:schemeClr val="bg2"/>
                </a:solidFill>
              </a:rPr>
              <a:t>• The prediction results are saved for record and review.</a:t>
            </a:r>
          </a:p>
          <a:p>
            <a:endParaRPr lang="en-US" sz="1600" dirty="0">
              <a:solidFill>
                <a:schemeClr val="bg2"/>
              </a:solidFill>
            </a:endParaRPr>
          </a:p>
          <a:p>
            <a:r>
              <a:rPr lang="en-US" sz="1600" dirty="0">
                <a:solidFill>
                  <a:schemeClr val="bg2"/>
                </a:solidFill>
              </a:rPr>
              <a:t>• The saved results can be downloaded as a CSV file for future use.</a:t>
            </a:r>
          </a:p>
          <a:p>
            <a:endParaRPr sz="1600" dirty="0">
              <a:solidFill>
                <a:srgbClr val="C8C8C8"/>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OUTPUT</a:t>
            </a:r>
            <a:br>
              <a:rPr lang="en-IN" dirty="0">
                <a:solidFill>
                  <a:srgbClr val="C8C8C8"/>
                </a:solidFill>
              </a:rPr>
            </a:br>
            <a:endParaRPr dirty="0"/>
          </a:p>
        </p:txBody>
      </p:sp>
      <p:pic>
        <p:nvPicPr>
          <p:cNvPr id="9" name="Content Placeholder 8">
            <a:extLst>
              <a:ext uri="{FF2B5EF4-FFF2-40B4-BE49-F238E27FC236}">
                <a16:creationId xmlns:a16="http://schemas.microsoft.com/office/drawing/2014/main" id="{8AF3C9BA-8DD8-B073-350B-F7A56C247529}"/>
              </a:ext>
            </a:extLst>
          </p:cNvPr>
          <p:cNvPicPr>
            <a:picLocks noGrp="1" noChangeAspect="1"/>
          </p:cNvPicPr>
          <p:nvPr>
            <p:ph idx="1"/>
          </p:nvPr>
        </p:nvPicPr>
        <p:blipFill>
          <a:blip r:embed="rId2"/>
          <a:stretch>
            <a:fillRect/>
          </a:stretch>
        </p:blipFill>
        <p:spPr>
          <a:xfrm>
            <a:off x="457200" y="974558"/>
            <a:ext cx="4319337" cy="3200400"/>
          </a:xfrm>
        </p:spPr>
      </p:pic>
      <p:pic>
        <p:nvPicPr>
          <p:cNvPr id="10" name="Content Placeholder 4">
            <a:extLst>
              <a:ext uri="{FF2B5EF4-FFF2-40B4-BE49-F238E27FC236}">
                <a16:creationId xmlns:a16="http://schemas.microsoft.com/office/drawing/2014/main" id="{864B2881-385D-E029-7B7E-916C63D1F5B2}"/>
              </a:ext>
            </a:extLst>
          </p:cNvPr>
          <p:cNvPicPr>
            <a:picLocks noChangeAspect="1"/>
          </p:cNvPicPr>
          <p:nvPr/>
        </p:nvPicPr>
        <p:blipFill>
          <a:blip r:embed="rId3"/>
          <a:stretch>
            <a:fillRect/>
          </a:stretch>
        </p:blipFill>
        <p:spPr>
          <a:xfrm>
            <a:off x="3633536" y="3888288"/>
            <a:ext cx="4969042" cy="32004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OUTPUT</a:t>
            </a:r>
            <a:br>
              <a:rPr lang="en-IN" dirty="0">
                <a:solidFill>
                  <a:srgbClr val="C8C8C8"/>
                </a:solidFill>
              </a:rPr>
            </a:br>
            <a:endParaRPr dirty="0"/>
          </a:p>
        </p:txBody>
      </p:sp>
      <p:pic>
        <p:nvPicPr>
          <p:cNvPr id="15" name="Content Placeholder 14">
            <a:extLst>
              <a:ext uri="{FF2B5EF4-FFF2-40B4-BE49-F238E27FC236}">
                <a16:creationId xmlns:a16="http://schemas.microsoft.com/office/drawing/2014/main" id="{A882EE03-00F8-9787-FE8A-3D5923854A01}"/>
              </a:ext>
            </a:extLst>
          </p:cNvPr>
          <p:cNvPicPr>
            <a:picLocks noGrp="1" noChangeAspect="1"/>
          </p:cNvPicPr>
          <p:nvPr>
            <p:ph idx="1"/>
          </p:nvPr>
        </p:nvPicPr>
        <p:blipFill>
          <a:blip r:embed="rId2"/>
          <a:stretch>
            <a:fillRect/>
          </a:stretch>
        </p:blipFill>
        <p:spPr>
          <a:xfrm>
            <a:off x="156410" y="846138"/>
            <a:ext cx="4776537" cy="2743200"/>
          </a:xfrm>
        </p:spPr>
      </p:pic>
      <p:pic>
        <p:nvPicPr>
          <p:cNvPr id="17" name="Picture 16">
            <a:extLst>
              <a:ext uri="{FF2B5EF4-FFF2-40B4-BE49-F238E27FC236}">
                <a16:creationId xmlns:a16="http://schemas.microsoft.com/office/drawing/2014/main" id="{ECCD3126-4E07-2D1B-BFF5-9AD5DC7B399D}"/>
              </a:ext>
            </a:extLst>
          </p:cNvPr>
          <p:cNvPicPr>
            <a:picLocks noChangeAspect="1"/>
          </p:cNvPicPr>
          <p:nvPr/>
        </p:nvPicPr>
        <p:blipFill>
          <a:blip r:embed="rId3"/>
          <a:stretch>
            <a:fillRect/>
          </a:stretch>
        </p:blipFill>
        <p:spPr>
          <a:xfrm>
            <a:off x="2911641" y="3720766"/>
            <a:ext cx="5221707" cy="300488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PERFOMANCE EVALUATION</a:t>
            </a:r>
            <a:br>
              <a:rPr lang="en-IN" dirty="0">
                <a:solidFill>
                  <a:srgbClr val="C8C8C8"/>
                </a:solidFill>
              </a:rPr>
            </a:br>
            <a:endParaRPr dirty="0"/>
          </a:p>
        </p:txBody>
      </p:sp>
      <p:sp>
        <p:nvSpPr>
          <p:cNvPr id="3" name="Content Placeholder 2"/>
          <p:cNvSpPr>
            <a:spLocks noGrp="1"/>
          </p:cNvSpPr>
          <p:nvPr>
            <p:ph idx="1"/>
          </p:nvPr>
        </p:nvSpPr>
        <p:spPr/>
        <p:txBody>
          <a:bodyPr/>
          <a:lstStyle/>
          <a:p>
            <a:endParaRPr sz="1600" dirty="0">
              <a:solidFill>
                <a:schemeClr val="bg2"/>
              </a:solidFill>
            </a:endParaRPr>
          </a:p>
          <a:p>
            <a:r>
              <a:rPr lang="en-US" sz="1600" dirty="0">
                <a:solidFill>
                  <a:schemeClr val="bg2"/>
                </a:solidFill>
              </a:rPr>
              <a:t>• The dataset was divided into training and testing data using an </a:t>
            </a:r>
            <a:r>
              <a:rPr lang="en-US" sz="1600" b="1" dirty="0">
                <a:solidFill>
                  <a:schemeClr val="bg2"/>
                </a:solidFill>
              </a:rPr>
              <a:t>80:20 split</a:t>
            </a:r>
            <a:r>
              <a:rPr lang="en-US" sz="1600" dirty="0">
                <a:solidFill>
                  <a:schemeClr val="bg2"/>
                </a:solidFill>
              </a:rPr>
              <a:t>.</a:t>
            </a:r>
          </a:p>
          <a:p>
            <a:r>
              <a:rPr lang="en-US" sz="1600" dirty="0">
                <a:solidFill>
                  <a:schemeClr val="bg2"/>
                </a:solidFill>
              </a:rPr>
              <a:t>• The system performance was measured using common evaluation methods.</a:t>
            </a:r>
          </a:p>
          <a:p>
            <a:r>
              <a:rPr lang="en-US" sz="1600" dirty="0">
                <a:solidFill>
                  <a:schemeClr val="bg2"/>
                </a:solidFill>
              </a:rPr>
              <a:t>• Accuracy was used to check how correctly the scanner was predicted.</a:t>
            </a:r>
          </a:p>
          <a:p>
            <a:r>
              <a:rPr lang="en-US" sz="1600" dirty="0">
                <a:solidFill>
                  <a:schemeClr val="bg2"/>
                </a:solidFill>
              </a:rPr>
              <a:t>• The results were analyzed to understand how well each scanner class was identified.</a:t>
            </a:r>
          </a:p>
          <a:p>
            <a:r>
              <a:rPr lang="en-US" sz="1600" dirty="0">
                <a:solidFill>
                  <a:schemeClr val="bg2"/>
                </a:solidFill>
              </a:rPr>
              <a:t>• Basic machine learning models were tested for comparison.</a:t>
            </a:r>
          </a:p>
          <a:p>
            <a:r>
              <a:rPr lang="en-US" sz="1600" dirty="0">
                <a:solidFill>
                  <a:schemeClr val="bg2"/>
                </a:solidFill>
              </a:rPr>
              <a:t>• The deep learning model was tested using validation results during training.</a:t>
            </a:r>
          </a:p>
          <a:p>
            <a:r>
              <a:rPr lang="en-US" sz="1600" dirty="0">
                <a:solidFill>
                  <a:schemeClr val="bg2"/>
                </a:solidFill>
              </a:rPr>
              <a:t>• A comparison was made to show that the deep learning model gives better and more reliable results.</a:t>
            </a:r>
          </a:p>
          <a:p>
            <a:endParaRPr sz="1600" dirty="0">
              <a:solidFill>
                <a:srgbClr val="C8C8C8"/>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RESULTS AND DISCUSSION</a:t>
            </a:r>
            <a:br>
              <a:rPr lang="en-IN" dirty="0">
                <a:solidFill>
                  <a:srgbClr val="C8C8C8"/>
                </a:solidFill>
              </a:rPr>
            </a:br>
            <a:endParaRPr dirty="0"/>
          </a:p>
        </p:txBody>
      </p:sp>
      <p:sp>
        <p:nvSpPr>
          <p:cNvPr id="3" name="Content Placeholder 2"/>
          <p:cNvSpPr>
            <a:spLocks noGrp="1"/>
          </p:cNvSpPr>
          <p:nvPr>
            <p:ph idx="1"/>
          </p:nvPr>
        </p:nvSpPr>
        <p:spPr/>
        <p:txBody>
          <a:bodyPr/>
          <a:lstStyle/>
          <a:p>
            <a:endParaRPr sz="1600" dirty="0">
              <a:solidFill>
                <a:schemeClr val="bg2"/>
              </a:solidFill>
            </a:endParaRPr>
          </a:p>
          <a:p>
            <a:r>
              <a:rPr lang="en-US" sz="1600" dirty="0">
                <a:solidFill>
                  <a:schemeClr val="bg2"/>
                </a:solidFill>
              </a:rPr>
              <a:t>• The system achieved good accuracy in identifying the scanner from scanned images.</a:t>
            </a:r>
          </a:p>
          <a:p>
            <a:r>
              <a:rPr lang="en-US" sz="1600" dirty="0">
                <a:solidFill>
                  <a:schemeClr val="bg2"/>
                </a:solidFill>
              </a:rPr>
              <a:t>• Among the basic models tested, the Random Forest model gave the best overall results.</a:t>
            </a:r>
          </a:p>
          <a:p>
            <a:r>
              <a:rPr lang="en-US" sz="1600" dirty="0">
                <a:solidFill>
                  <a:schemeClr val="bg2"/>
                </a:solidFill>
              </a:rPr>
              <a:t>• The deep learning model learned scanner patterns well and showed strong performance during testing.</a:t>
            </a:r>
          </a:p>
          <a:p>
            <a:r>
              <a:rPr lang="en-US" sz="1600" dirty="0">
                <a:solidFill>
                  <a:schemeClr val="bg2"/>
                </a:solidFill>
              </a:rPr>
              <a:t>• The system worked consistently across different scanner types.</a:t>
            </a:r>
          </a:p>
          <a:p>
            <a:r>
              <a:rPr lang="en-US" sz="1600" dirty="0">
                <a:solidFill>
                  <a:schemeClr val="bg2"/>
                </a:solidFill>
              </a:rPr>
              <a:t>• The complete system worked smoothly from image upload to final prediction in the web application.</a:t>
            </a:r>
          </a:p>
          <a:p>
            <a:r>
              <a:rPr lang="en-US" sz="1600" dirty="0">
                <a:solidFill>
                  <a:schemeClr val="bg2"/>
                </a:solidFill>
              </a:rPr>
              <a:t>• This shows that </a:t>
            </a:r>
            <a:r>
              <a:rPr lang="en-US" sz="1600" dirty="0" err="1">
                <a:solidFill>
                  <a:schemeClr val="bg2"/>
                </a:solidFill>
              </a:rPr>
              <a:t>TraceFinder</a:t>
            </a:r>
            <a:r>
              <a:rPr lang="en-US" sz="1600" dirty="0">
                <a:solidFill>
                  <a:schemeClr val="bg2"/>
                </a:solidFill>
              </a:rPr>
              <a:t> is effective as a scanner identification tool for forensic use.</a:t>
            </a:r>
          </a:p>
          <a:p>
            <a:endParaRPr sz="1600" dirty="0">
              <a:solidFill>
                <a:srgbClr val="C8C8C8"/>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CONCLUSION</a:t>
            </a:r>
            <a:br>
              <a:rPr lang="en-IN" dirty="0">
                <a:solidFill>
                  <a:srgbClr val="C8C8C8"/>
                </a:solidFill>
              </a:rPr>
            </a:br>
            <a:endParaRPr dirty="0"/>
          </a:p>
        </p:txBody>
      </p:sp>
      <p:sp>
        <p:nvSpPr>
          <p:cNvPr id="3" name="Content Placeholder 2"/>
          <p:cNvSpPr>
            <a:spLocks noGrp="1"/>
          </p:cNvSpPr>
          <p:nvPr>
            <p:ph idx="1"/>
          </p:nvPr>
        </p:nvSpPr>
        <p:spPr/>
        <p:txBody>
          <a:bodyPr/>
          <a:lstStyle/>
          <a:p>
            <a:endParaRPr sz="1600" dirty="0">
              <a:solidFill>
                <a:srgbClr val="C8C8C8"/>
              </a:solidFill>
            </a:endParaRPr>
          </a:p>
          <a:p>
            <a:r>
              <a:rPr lang="en-US" sz="1600" dirty="0">
                <a:solidFill>
                  <a:schemeClr val="bg2"/>
                </a:solidFill>
              </a:rPr>
              <a:t>• </a:t>
            </a:r>
            <a:r>
              <a:rPr lang="en-US" sz="1600" dirty="0" err="1">
                <a:solidFill>
                  <a:schemeClr val="bg2"/>
                </a:solidFill>
              </a:rPr>
              <a:t>TraceFinder</a:t>
            </a:r>
            <a:r>
              <a:rPr lang="en-US" sz="1600" dirty="0">
                <a:solidFill>
                  <a:schemeClr val="bg2"/>
                </a:solidFill>
              </a:rPr>
              <a:t> successfully solves the problem of identifying the scanner from scanned document images.</a:t>
            </a:r>
          </a:p>
          <a:p>
            <a:pPr marL="0" indent="0">
              <a:buNone/>
            </a:pPr>
            <a:endParaRPr lang="en-US" sz="1600" dirty="0">
              <a:solidFill>
                <a:schemeClr val="bg2"/>
              </a:solidFill>
            </a:endParaRPr>
          </a:p>
          <a:p>
            <a:r>
              <a:rPr lang="en-US" sz="1600" dirty="0">
                <a:solidFill>
                  <a:schemeClr val="bg2"/>
                </a:solidFill>
              </a:rPr>
              <a:t>• The system is able to capture hidden scanner patterns using image processing.</a:t>
            </a:r>
          </a:p>
          <a:p>
            <a:endParaRPr lang="en-US" sz="1600" dirty="0">
              <a:solidFill>
                <a:schemeClr val="bg2"/>
              </a:solidFill>
            </a:endParaRPr>
          </a:p>
          <a:p>
            <a:r>
              <a:rPr lang="en-US" sz="1600" dirty="0">
                <a:solidFill>
                  <a:schemeClr val="bg2"/>
                </a:solidFill>
              </a:rPr>
              <a:t>• Both basic models and the deep learning model showed good identification performance.</a:t>
            </a:r>
          </a:p>
          <a:p>
            <a:endParaRPr lang="en-US" sz="1600" dirty="0">
              <a:solidFill>
                <a:schemeClr val="bg2"/>
              </a:solidFill>
            </a:endParaRPr>
          </a:p>
          <a:p>
            <a:r>
              <a:rPr lang="en-US" sz="1600" dirty="0">
                <a:solidFill>
                  <a:schemeClr val="bg2"/>
                </a:solidFill>
              </a:rPr>
              <a:t>• The </a:t>
            </a:r>
            <a:r>
              <a:rPr lang="en-US" sz="1600" dirty="0" err="1">
                <a:solidFill>
                  <a:schemeClr val="bg2"/>
                </a:solidFill>
              </a:rPr>
              <a:t>Streamlit</a:t>
            </a:r>
            <a:r>
              <a:rPr lang="en-US" sz="1600" dirty="0">
                <a:solidFill>
                  <a:schemeClr val="bg2"/>
                </a:solidFill>
              </a:rPr>
              <a:t> web application makes the system easy to use and gives fast results.</a:t>
            </a:r>
          </a:p>
          <a:p>
            <a:endParaRPr lang="en-US" sz="1600" dirty="0">
              <a:solidFill>
                <a:schemeClr val="bg2"/>
              </a:solidFill>
            </a:endParaRPr>
          </a:p>
          <a:p>
            <a:r>
              <a:rPr lang="en-US" sz="1600" dirty="0">
                <a:solidFill>
                  <a:schemeClr val="bg2"/>
                </a:solidFill>
              </a:rPr>
              <a:t>• This project shows how artificial intelligence can help in digital document investigation.</a:t>
            </a:r>
          </a:p>
          <a:p>
            <a:endParaRPr sz="1600" dirty="0">
              <a:solidFill>
                <a:srgbClr val="C8C8C8"/>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Content Placeholder 2"/>
          <p:cNvSpPr>
            <a:spLocks noGrp="1"/>
          </p:cNvSpPr>
          <p:nvPr>
            <p:ph idx="1"/>
          </p:nvPr>
        </p:nvSpPr>
        <p:spPr>
          <a:xfrm>
            <a:off x="2318657" y="2841172"/>
            <a:ext cx="8229600" cy="4525963"/>
          </a:xfrm>
        </p:spPr>
        <p:txBody>
          <a:bodyPr>
            <a:normAutofit/>
          </a:bodyPr>
          <a:lstStyle/>
          <a:p>
            <a:pPr marL="0" indent="0">
              <a:buNone/>
            </a:pPr>
            <a:r>
              <a:rPr lang="en-US" sz="4800" dirty="0">
                <a:solidFill>
                  <a:srgbClr val="C8C8C8"/>
                </a:solidFill>
              </a:rPr>
              <a:t>  </a:t>
            </a:r>
            <a:r>
              <a:rPr sz="4800" dirty="0">
                <a:solidFill>
                  <a:srgbClr val="C8C8C8"/>
                </a:solidFil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100</TotalTime>
  <Words>1186</Words>
  <Application>Microsoft Office PowerPoint</Application>
  <PresentationFormat>On-screen Show (4:3)</PresentationFormat>
  <Paragraphs>162</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TRACEFINDER – FORENSIC SCANNER  IDENTIFICATION SYSTEM </vt:lpstr>
      <vt:lpstr>PowerPoint Presentation</vt:lpstr>
      <vt:lpstr>INTRODUCTION  </vt:lpstr>
      <vt:lpstr>PROBLEM STATEMENT </vt:lpstr>
      <vt:lpstr>OBJECTIVES </vt:lpstr>
      <vt:lpstr>WORKFLOW </vt:lpstr>
      <vt:lpstr>METHODOLOGY </vt:lpstr>
      <vt:lpstr>PowerPoint Presentation</vt:lpstr>
      <vt:lpstr>PowerPoint Presentation</vt:lpstr>
      <vt:lpstr>PowerPoint Presentation</vt:lpstr>
      <vt:lpstr>TECHNOLOGIES USED </vt:lpstr>
      <vt:lpstr>OUTPUT  </vt:lpstr>
      <vt:lpstr>OUTPUT </vt:lpstr>
      <vt:lpstr>OUTPUT </vt:lpstr>
      <vt:lpstr>PERFOMANCE EVALUATION </vt:lpstr>
      <vt:lpstr>RESULTS AND DISCUSSION </vt:lpstr>
      <vt:lpstr>CONCLUSION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JASEMINE</dc:creator>
  <cp:keywords/>
  <dc:description>generated using python-pptx</dc:description>
  <cp:lastModifiedBy>Silvia Jasmine</cp:lastModifiedBy>
  <cp:revision>14</cp:revision>
  <dcterms:created xsi:type="dcterms:W3CDTF">2013-01-27T09:14:16Z</dcterms:created>
  <dcterms:modified xsi:type="dcterms:W3CDTF">2026-01-28T08:46:50Z</dcterms:modified>
  <cp:category/>
</cp:coreProperties>
</file>