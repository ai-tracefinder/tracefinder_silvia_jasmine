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500"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189038"/>
            <a:ext cx="8229600" cy="1143000"/>
          </a:xfrm>
        </p:spPr>
        <p:txBody>
          <a:bodyPr>
            <a:normAutofit fontScale="90000"/>
          </a:bodyPr>
          <a:lstStyle/>
          <a:p>
            <a:r>
              <a:rPr lang="en-IN" dirty="0">
                <a:solidFill>
                  <a:srgbClr val="C8C8C8"/>
                </a:solidFill>
              </a:rPr>
              <a:t>TRACEFINDER – FORENSIC SCANNER</a:t>
            </a:r>
            <a:br>
              <a:rPr lang="en-IN" dirty="0">
                <a:solidFill>
                  <a:srgbClr val="C8C8C8"/>
                </a:solidFill>
              </a:rPr>
            </a:br>
            <a:r>
              <a:rPr lang="en-IN" dirty="0">
                <a:solidFill>
                  <a:srgbClr val="C8C8C8"/>
                </a:solidFill>
              </a:rPr>
              <a:t> IDENTIFICATION SYSTEM</a:t>
            </a:r>
            <a:br>
              <a:rPr lang="en-IN" dirty="0">
                <a:solidFill>
                  <a:srgbClr val="C8C8C8"/>
                </a:solidFill>
              </a:rPr>
            </a:br>
            <a:endParaRPr dirty="0"/>
          </a:p>
        </p:txBody>
      </p:sp>
      <p:sp>
        <p:nvSpPr>
          <p:cNvPr id="3" name="Content Placeholder 2"/>
          <p:cNvSpPr>
            <a:spLocks noGrp="1"/>
          </p:cNvSpPr>
          <p:nvPr>
            <p:ph idx="1"/>
          </p:nvPr>
        </p:nvSpPr>
        <p:spPr/>
        <p:txBody>
          <a:bodyPr/>
          <a:lstStyle/>
          <a:p>
            <a:pPr marL="0" indent="0">
              <a:buNone/>
            </a:pPr>
            <a:endParaRPr sz="1600" dirty="0">
              <a:solidFill>
                <a:srgbClr val="C8C8C8"/>
              </a:solidFill>
            </a:endParaRPr>
          </a:p>
          <a:p>
            <a:endParaRPr sz="1600" dirty="0">
              <a:solidFill>
                <a:srgbClr val="C8C8C8"/>
              </a:solidFill>
            </a:endParaRPr>
          </a:p>
          <a:p>
            <a:endParaRPr sz="1600" dirty="0">
              <a:solidFill>
                <a:srgbClr val="C8C8C8"/>
              </a:solidFill>
            </a:endParaRPr>
          </a:p>
          <a:p>
            <a:endParaRPr sz="1600" dirty="0">
              <a:solidFill>
                <a:srgbClr val="C8C8C8"/>
              </a:solidFill>
            </a:endParaRPr>
          </a:p>
          <a:p>
            <a:endParaRPr sz="1600" dirty="0">
              <a:solidFill>
                <a:srgbClr val="C8C8C8"/>
              </a:solidFill>
            </a:endParaRPr>
          </a:p>
          <a:p>
            <a:endParaRPr sz="1600" dirty="0">
              <a:solidFill>
                <a:srgbClr val="C8C8C8"/>
              </a:solidFill>
            </a:endParaRPr>
          </a:p>
          <a:p>
            <a:endParaRPr lang="en-US" sz="1600" dirty="0">
              <a:solidFill>
                <a:srgbClr val="C8C8C8"/>
              </a:solidFill>
            </a:endParaRPr>
          </a:p>
          <a:p>
            <a:endParaRPr lang="en-IN" sz="1600" dirty="0">
              <a:solidFill>
                <a:srgbClr val="C8C8C8"/>
              </a:solidFill>
            </a:endParaRPr>
          </a:p>
          <a:p>
            <a:endParaRPr lang="en-IN" sz="1600" dirty="0">
              <a:solidFill>
                <a:srgbClr val="C8C8C8"/>
              </a:solidFill>
            </a:endParaRPr>
          </a:p>
          <a:p>
            <a:endParaRPr sz="1600" dirty="0">
              <a:solidFill>
                <a:srgbClr val="C8C8C8"/>
              </a:solidFill>
            </a:endParaRPr>
          </a:p>
          <a:p>
            <a:pPr marL="0" indent="0">
              <a:buNone/>
            </a:pPr>
            <a:r>
              <a:rPr lang="en-US" sz="2800" dirty="0">
                <a:solidFill>
                  <a:srgbClr val="C8C8C8"/>
                </a:solidFill>
              </a:rPr>
              <a:t>												</a:t>
            </a:r>
            <a:r>
              <a:rPr sz="2800" dirty="0">
                <a:solidFill>
                  <a:srgbClr val="C8C8C8"/>
                </a:solidFill>
              </a:rPr>
              <a:t>PRESENTED BY:</a:t>
            </a:r>
            <a:endParaRPr lang="en-US" sz="2800" dirty="0">
              <a:solidFill>
                <a:srgbClr val="C8C8C8"/>
              </a:solidFill>
            </a:endParaRPr>
          </a:p>
          <a:p>
            <a:pPr marL="0" indent="0">
              <a:buNone/>
            </a:pPr>
            <a:r>
              <a:rPr sz="2800" dirty="0">
                <a:solidFill>
                  <a:srgbClr val="C8C8C8"/>
                </a:solidFill>
              </a:rPr>
              <a:t> </a:t>
            </a:r>
            <a:r>
              <a:rPr lang="en-US" sz="2800" dirty="0">
                <a:solidFill>
                  <a:srgbClr val="C8C8C8"/>
                </a:solidFill>
              </a:rPr>
              <a:t>											</a:t>
            </a:r>
            <a:r>
              <a:rPr sz="2800" dirty="0">
                <a:solidFill>
                  <a:srgbClr val="C8C8C8"/>
                </a:solidFill>
              </a:rPr>
              <a:t>A. SILVIA JASMINE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286" y="1166018"/>
            <a:ext cx="8229600" cy="4525963"/>
          </a:xfrm>
        </p:spPr>
        <p:txBody>
          <a:bodyPr>
            <a:normAutofit fontScale="92500" lnSpcReduction="20000"/>
          </a:bodyPr>
          <a:lstStyle/>
          <a:p>
            <a:r>
              <a:rPr sz="1600" dirty="0">
                <a:solidFill>
                  <a:srgbClr val="C8C8C8"/>
                </a:solidFill>
              </a:rPr>
              <a:t>CONTENTS</a:t>
            </a:r>
          </a:p>
          <a:p>
            <a:pPr marL="0" indent="0">
              <a:buNone/>
            </a:pPr>
            <a:endParaRPr sz="1600" dirty="0">
              <a:solidFill>
                <a:srgbClr val="C8C8C8"/>
              </a:solidFill>
            </a:endParaRPr>
          </a:p>
          <a:p>
            <a:r>
              <a:rPr sz="1600" dirty="0">
                <a:solidFill>
                  <a:srgbClr val="C8C8C8"/>
                </a:solidFill>
              </a:rPr>
              <a:t>INTRODUCTION</a:t>
            </a:r>
          </a:p>
          <a:p>
            <a:endParaRPr sz="1600" dirty="0">
              <a:solidFill>
                <a:srgbClr val="C8C8C8"/>
              </a:solidFill>
            </a:endParaRPr>
          </a:p>
          <a:p>
            <a:r>
              <a:rPr sz="1600" dirty="0">
                <a:solidFill>
                  <a:srgbClr val="C8C8C8"/>
                </a:solidFill>
              </a:rPr>
              <a:t>PROBLEM STATEMENT</a:t>
            </a:r>
          </a:p>
          <a:p>
            <a:endParaRPr sz="1600" dirty="0">
              <a:solidFill>
                <a:srgbClr val="C8C8C8"/>
              </a:solidFill>
            </a:endParaRPr>
          </a:p>
          <a:p>
            <a:r>
              <a:rPr sz="1600" dirty="0">
                <a:solidFill>
                  <a:srgbClr val="C8C8C8"/>
                </a:solidFill>
              </a:rPr>
              <a:t>OBJECTIVES</a:t>
            </a:r>
          </a:p>
          <a:p>
            <a:endParaRPr sz="1600" dirty="0">
              <a:solidFill>
                <a:srgbClr val="C8C8C8"/>
              </a:solidFill>
            </a:endParaRPr>
          </a:p>
          <a:p>
            <a:r>
              <a:rPr sz="1600" dirty="0">
                <a:solidFill>
                  <a:srgbClr val="C8C8C8"/>
                </a:solidFill>
              </a:rPr>
              <a:t>METHODOLOGY </a:t>
            </a:r>
          </a:p>
          <a:p>
            <a:endParaRPr sz="1600" dirty="0">
              <a:solidFill>
                <a:srgbClr val="C8C8C8"/>
              </a:solidFill>
            </a:endParaRPr>
          </a:p>
          <a:p>
            <a:r>
              <a:rPr sz="1600" dirty="0">
                <a:solidFill>
                  <a:srgbClr val="C8C8C8"/>
                </a:solidFill>
              </a:rPr>
              <a:t>WORKFLOW </a:t>
            </a:r>
          </a:p>
          <a:p>
            <a:pPr marL="0" indent="0">
              <a:buNone/>
            </a:pPr>
            <a:endParaRPr sz="1600" dirty="0">
              <a:solidFill>
                <a:srgbClr val="C8C8C8"/>
              </a:solidFill>
            </a:endParaRPr>
          </a:p>
          <a:p>
            <a:r>
              <a:rPr sz="1600" dirty="0">
                <a:solidFill>
                  <a:srgbClr val="C8C8C8"/>
                </a:solidFill>
              </a:rPr>
              <a:t>OUTPUT</a:t>
            </a:r>
          </a:p>
          <a:p>
            <a:endParaRPr sz="1600" dirty="0">
              <a:solidFill>
                <a:srgbClr val="C8C8C8"/>
              </a:solidFill>
            </a:endParaRPr>
          </a:p>
          <a:p>
            <a:r>
              <a:rPr sz="1600" dirty="0">
                <a:solidFill>
                  <a:srgbClr val="C8C8C8"/>
                </a:solidFill>
              </a:rPr>
              <a:t>RESULT AND DISCUSSION</a:t>
            </a:r>
          </a:p>
          <a:p>
            <a:endParaRPr sz="1600" dirty="0">
              <a:solidFill>
                <a:srgbClr val="C8C8C8"/>
              </a:solidFill>
            </a:endParaRPr>
          </a:p>
          <a:p>
            <a:r>
              <a:rPr sz="1600" dirty="0">
                <a:solidFill>
                  <a:srgbClr val="C8C8C8"/>
                </a:solidFill>
              </a:rPr>
              <a:t>FUTURE WORK</a:t>
            </a:r>
          </a:p>
          <a:p>
            <a:endParaRPr sz="1600" dirty="0">
              <a:solidFill>
                <a:srgbClr val="C8C8C8"/>
              </a:solidFill>
            </a:endParaRPr>
          </a:p>
          <a:p>
            <a:r>
              <a:rPr sz="1600" dirty="0">
                <a:solidFill>
                  <a:srgbClr val="C8C8C8"/>
                </a:solidFill>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INTRODUCTION </a:t>
            </a:r>
            <a:br>
              <a:rPr lang="en-IN" dirty="0">
                <a:solidFill>
                  <a:srgbClr val="C8C8C8"/>
                </a:solidFill>
              </a:rPr>
            </a:br>
            <a:endParaRPr dirty="0"/>
          </a:p>
        </p:txBody>
      </p:sp>
      <p:sp>
        <p:nvSpPr>
          <p:cNvPr id="3" name="Content Placeholder 2"/>
          <p:cNvSpPr>
            <a:spLocks noGrp="1"/>
          </p:cNvSpPr>
          <p:nvPr>
            <p:ph idx="1"/>
          </p:nvPr>
        </p:nvSpPr>
        <p:spPr/>
        <p:txBody>
          <a:bodyPr>
            <a:normAutofit/>
          </a:bodyPr>
          <a:lstStyle/>
          <a:p>
            <a:pPr marL="0" indent="0">
              <a:buNone/>
            </a:pPr>
            <a:endParaRPr sz="1600" dirty="0">
              <a:solidFill>
                <a:srgbClr val="C8C8C8"/>
              </a:solidFill>
            </a:endParaRPr>
          </a:p>
          <a:p>
            <a:r>
              <a:rPr sz="1600" dirty="0">
                <a:solidFill>
                  <a:srgbClr val="C8C8C8"/>
                </a:solidFill>
              </a:rPr>
              <a:t>Scanned documents are widely used in legal, academic, and organizational workflows. During the scanning process, each scanner device introduces subtle, device-specific artifacts due to variations in hardware components such as sensors, optics, and illumination systems. These artifacts act as a unique fingerprint of the scanner and remain embedded in the scanned image, although they are invisible to the human eye. Identifying these hidden patterns is an important aspect of digital document forensics.</a:t>
            </a:r>
          </a:p>
          <a:p>
            <a:endParaRPr sz="1600" dirty="0">
              <a:solidFill>
                <a:srgbClr val="C8C8C8"/>
              </a:solidFill>
            </a:endParaRPr>
          </a:p>
          <a:p>
            <a:r>
              <a:rPr sz="1600" dirty="0" err="1">
                <a:solidFill>
                  <a:srgbClr val="C8C8C8"/>
                </a:solidFill>
              </a:rPr>
              <a:t>TraceFinder</a:t>
            </a:r>
            <a:r>
              <a:rPr sz="1600" dirty="0">
                <a:solidFill>
                  <a:srgbClr val="C8C8C8"/>
                </a:solidFill>
              </a:rPr>
              <a:t> is a forensic scanner identification system that utilizes image processing and machine learning techniques to analyze scanned document images and determine their source scanner. By learning scanner-specific noise and texture characteristics from data collected across multiple devices and resolutions, the system enables accurate and automated scanner identification. This approach provides a reliable forensic tool for verifying document origin and detecting potential document manipulation.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438"/>
            <a:ext cx="8229600" cy="1143000"/>
          </a:xfrm>
        </p:spPr>
        <p:txBody>
          <a:bodyPr>
            <a:normAutofit fontScale="90000"/>
          </a:bodyPr>
          <a:lstStyle/>
          <a:p>
            <a:r>
              <a:rPr lang="en-IN" dirty="0">
                <a:solidFill>
                  <a:srgbClr val="C8C8C8"/>
                </a:solidFill>
              </a:rPr>
              <a:t>PROBLEM STATEMENT</a:t>
            </a:r>
            <a:br>
              <a:rPr lang="en-IN" dirty="0">
                <a:solidFill>
                  <a:srgbClr val="C8C8C8"/>
                </a:solidFill>
              </a:rPr>
            </a:br>
            <a:endParaRPr dirty="0"/>
          </a:p>
        </p:txBody>
      </p:sp>
      <p:sp>
        <p:nvSpPr>
          <p:cNvPr id="3" name="Content Placeholder 2"/>
          <p:cNvSpPr>
            <a:spLocks noGrp="1"/>
          </p:cNvSpPr>
          <p:nvPr>
            <p:ph idx="1"/>
          </p:nvPr>
        </p:nvSpPr>
        <p:spPr>
          <a:xfrm>
            <a:off x="457200" y="2068285"/>
            <a:ext cx="8229600" cy="4525963"/>
          </a:xfrm>
        </p:spPr>
        <p:txBody>
          <a:bodyPr/>
          <a:lstStyle/>
          <a:p>
            <a:r>
              <a:rPr sz="1600" dirty="0">
                <a:solidFill>
                  <a:srgbClr val="C8C8C8"/>
                </a:solidFill>
              </a:rPr>
              <a:t>How might we identify the scanner device used to produce a scanned document when scanner information is not explicitly available?</a:t>
            </a:r>
            <a:endParaRPr lang="en-US" sz="1600" dirty="0">
              <a:solidFill>
                <a:srgbClr val="C8C8C8"/>
              </a:solidFill>
            </a:endParaRPr>
          </a:p>
          <a:p>
            <a:pPr marL="0" indent="0">
              <a:buNone/>
            </a:pPr>
            <a:endParaRPr sz="1600" dirty="0">
              <a:solidFill>
                <a:srgbClr val="C8C8C8"/>
              </a:solidFill>
            </a:endParaRPr>
          </a:p>
          <a:p>
            <a:r>
              <a:rPr sz="1600" dirty="0">
                <a:solidFill>
                  <a:srgbClr val="C8C8C8"/>
                </a:solidFill>
              </a:rPr>
              <a:t>How might we detect and utilize invisible scanner-specific artifacts that cannot be recognized by human observation?</a:t>
            </a:r>
            <a:endParaRPr lang="en-US" sz="1600" dirty="0">
              <a:solidFill>
                <a:srgbClr val="C8C8C8"/>
              </a:solidFill>
            </a:endParaRPr>
          </a:p>
          <a:p>
            <a:pPr marL="0" indent="0">
              <a:buNone/>
            </a:pPr>
            <a:endParaRPr sz="1600" dirty="0">
              <a:solidFill>
                <a:srgbClr val="C8C8C8"/>
              </a:solidFill>
            </a:endParaRPr>
          </a:p>
          <a:p>
            <a:r>
              <a:rPr sz="1600" dirty="0">
                <a:solidFill>
                  <a:srgbClr val="C8C8C8"/>
                </a:solidFill>
              </a:rPr>
              <a:t>How might we deploy this system in a practical, user-friendly manner for real-world forensic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idx="1"/>
          </p:nvPr>
        </p:nvSpPr>
        <p:spPr/>
        <p:txBody>
          <a:bodyPr/>
          <a:lstStyle/>
          <a:p>
            <a:r>
              <a:rPr sz="1600">
                <a:solidFill>
                  <a:srgbClr val="C8C8C8"/>
                </a:solidFill>
              </a:rPr>
              <a:t>OBJECTIVES</a:t>
            </a:r>
          </a:p>
          <a:p>
            <a:r>
              <a:rPr sz="1600">
                <a:solidFill>
                  <a:srgbClr val="C8C8C8"/>
                </a:solidFill>
              </a:rPr>
              <a:t>To identify the source scanner of a scanned document using image processing techniques</a:t>
            </a:r>
          </a:p>
          <a:p>
            <a:r>
              <a:rPr sz="1600">
                <a:solidFill>
                  <a:srgbClr val="C8C8C8"/>
                </a:solidFill>
              </a:rPr>
              <a:t>To analyze scanner-specific noise and texture artifacts embedded in scanned images</a:t>
            </a:r>
          </a:p>
          <a:p>
            <a:r>
              <a:rPr sz="1600">
                <a:solidFill>
                  <a:srgbClr val="C8C8C8"/>
                </a:solidFill>
              </a:rPr>
              <a:t>To apply machine learning and deep learning models for scanner classification</a:t>
            </a:r>
          </a:p>
          <a:p>
            <a:r>
              <a:rPr sz="1600">
                <a:solidFill>
                  <a:srgbClr val="C8C8C8"/>
                </a:solidFill>
              </a:rPr>
              <a:t>To evaluate system performance using standard classification metrics</a:t>
            </a:r>
          </a:p>
          <a:p>
            <a:r>
              <a:rPr sz="1600">
                <a:solidFill>
                  <a:srgbClr val="C8C8C8"/>
                </a:solidFill>
              </a:rPr>
              <a:t>To develop a deployable forensic application for real-time scanner identification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WORKFLOW</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rgbClr val="C8C8C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72609"/>
            <a:ext cx="8229600" cy="1143000"/>
          </a:xfrm>
        </p:spPr>
        <p:txBody>
          <a:bodyPr>
            <a:normAutofit fontScale="90000"/>
          </a:bodyPr>
          <a:lstStyle/>
          <a:p>
            <a:r>
              <a:rPr lang="en-IN" dirty="0">
                <a:solidFill>
                  <a:srgbClr val="C8C8C8"/>
                </a:solidFill>
              </a:rPr>
              <a:t>METHODOLOGY</a:t>
            </a:r>
            <a:br>
              <a:rPr lang="en-IN" dirty="0">
                <a:solidFill>
                  <a:srgbClr val="C8C8C8"/>
                </a:solidFill>
              </a:rPr>
            </a:br>
            <a:endParaRPr dirty="0"/>
          </a:p>
        </p:txBody>
      </p:sp>
      <p:sp>
        <p:nvSpPr>
          <p:cNvPr id="3" name="Content Placeholder 2"/>
          <p:cNvSpPr>
            <a:spLocks noGrp="1"/>
          </p:cNvSpPr>
          <p:nvPr>
            <p:ph idx="1"/>
          </p:nvPr>
        </p:nvSpPr>
        <p:spPr/>
        <p:txBody>
          <a:bodyPr/>
          <a:lstStyle/>
          <a:p>
            <a:pPr marL="0" indent="0">
              <a:buNone/>
            </a:pPr>
            <a:endParaRPr sz="1600" dirty="0">
              <a:solidFill>
                <a:srgbClr val="C8C8C8"/>
              </a:solidFill>
            </a:endParaRPr>
          </a:p>
          <a:p>
            <a:r>
              <a:rPr sz="1600" dirty="0">
                <a:solidFill>
                  <a:srgbClr val="C8C8C8"/>
                </a:solidFill>
              </a:rPr>
              <a:t>Dataset Collection and Preprocessing</a:t>
            </a:r>
          </a:p>
          <a:p>
            <a:r>
              <a:rPr sz="1600" dirty="0">
                <a:solidFill>
                  <a:srgbClr val="C8C8C8"/>
                </a:solidFill>
              </a:rPr>
              <a:t>Collection of scanned document images from 11 different scanner models</a:t>
            </a:r>
          </a:p>
          <a:p>
            <a:r>
              <a:rPr sz="1600" dirty="0">
                <a:solidFill>
                  <a:srgbClr val="C8C8C8"/>
                </a:solidFill>
              </a:rPr>
              <a:t>Use of flatfield, official, and printed Wikipedia document images</a:t>
            </a:r>
          </a:p>
          <a:p>
            <a:r>
              <a:rPr sz="1600" dirty="0">
                <a:solidFill>
                  <a:srgbClr val="C8C8C8"/>
                </a:solidFill>
              </a:rPr>
              <a:t>Images scanned at 150 DPI and 300 DPI resolutions</a:t>
            </a:r>
          </a:p>
          <a:p>
            <a:r>
              <a:rPr sz="1600" dirty="0">
                <a:solidFill>
                  <a:srgbClr val="C8C8C8"/>
                </a:solidFill>
              </a:rPr>
              <a:t>Conversion of all images to grayscale and 8-bit format</a:t>
            </a:r>
          </a:p>
          <a:p>
            <a:r>
              <a:rPr sz="1600" dirty="0">
                <a:solidFill>
                  <a:srgbClr val="C8C8C8"/>
                </a:solidFill>
              </a:rPr>
              <a:t>Resizing and center-cropping of images to a fixed resolution</a:t>
            </a:r>
          </a:p>
          <a:p>
            <a:r>
              <a:rPr sz="1600" dirty="0">
                <a:solidFill>
                  <a:srgbClr val="C8C8C8"/>
                </a:solidFill>
              </a:rPr>
              <a:t>Normalization of pixel values for consistent model input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87828"/>
            <a:ext cx="8229600" cy="4525963"/>
          </a:xfrm>
        </p:spPr>
        <p:txBody>
          <a:bodyPr/>
          <a:lstStyle/>
          <a:p>
            <a:pPr marL="0" indent="0">
              <a:buNone/>
            </a:pPr>
            <a:endParaRPr sz="1600" dirty="0">
              <a:solidFill>
                <a:srgbClr val="C8C8C8"/>
              </a:solidFill>
            </a:endParaRPr>
          </a:p>
          <a:p>
            <a:endParaRPr sz="1600" dirty="0">
              <a:solidFill>
                <a:srgbClr val="C8C8C8"/>
              </a:solidFill>
            </a:endParaRPr>
          </a:p>
          <a:p>
            <a:r>
              <a:rPr sz="1600" dirty="0">
                <a:solidFill>
                  <a:srgbClr val="C8C8C8"/>
                </a:solidFill>
              </a:rPr>
              <a:t>Feature Engineering and Baseline Modeling</a:t>
            </a:r>
          </a:p>
          <a:p>
            <a:r>
              <a:rPr sz="1600" dirty="0">
                <a:solidFill>
                  <a:srgbClr val="C8C8C8"/>
                </a:solidFill>
              </a:rPr>
              <a:t>Extraction of noise residuals to highlight scanner-specific artifacts</a:t>
            </a:r>
          </a:p>
          <a:p>
            <a:r>
              <a:rPr sz="1600" dirty="0">
                <a:solidFill>
                  <a:srgbClr val="C8C8C8"/>
                </a:solidFill>
              </a:rPr>
              <a:t>Computation of statistical noise features such as mean and variance</a:t>
            </a:r>
          </a:p>
          <a:p>
            <a:r>
              <a:rPr sz="1600" dirty="0">
                <a:solidFill>
                  <a:srgbClr val="C8C8C8"/>
                </a:solidFill>
              </a:rPr>
              <a:t>Frequency-domain feature extraction using FFT band energies</a:t>
            </a:r>
          </a:p>
          <a:p>
            <a:r>
              <a:rPr sz="1600" dirty="0">
                <a:solidFill>
                  <a:srgbClr val="C8C8C8"/>
                </a:solidFill>
              </a:rPr>
              <a:t>Texture analysis using Local Binary Patterns (LBP)</a:t>
            </a:r>
          </a:p>
          <a:p>
            <a:r>
              <a:rPr sz="1600" dirty="0">
                <a:solidFill>
                  <a:srgbClr val="C8C8C8"/>
                </a:solidFill>
              </a:rPr>
              <a:t>Training of Random Forest and Support Vector Machine classifiers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idx="1"/>
          </p:nvPr>
        </p:nvSpPr>
        <p:spPr/>
        <p:txBody>
          <a:bodyPr/>
          <a:lstStyle/>
          <a:p>
            <a:pPr marL="0" indent="0">
              <a:buNone/>
            </a:pPr>
            <a:endParaRPr sz="1600" dirty="0">
              <a:solidFill>
                <a:srgbClr val="C8C8C8"/>
              </a:solidFill>
            </a:endParaRPr>
          </a:p>
          <a:p>
            <a:r>
              <a:rPr sz="1600" dirty="0">
                <a:solidFill>
                  <a:srgbClr val="C8C8C8"/>
                </a:solidFill>
              </a:rPr>
              <a:t>Deep Learning Model Training</a:t>
            </a:r>
          </a:p>
          <a:p>
            <a:r>
              <a:rPr sz="1600" dirty="0">
                <a:solidFill>
                  <a:srgbClr val="C8C8C8"/>
                </a:solidFill>
              </a:rPr>
              <a:t>Design of a Convolutional Neural Network for scanner classification</a:t>
            </a:r>
          </a:p>
          <a:p>
            <a:r>
              <a:rPr sz="1600" dirty="0">
                <a:solidFill>
                  <a:srgbClr val="C8C8C8"/>
                </a:solidFill>
              </a:rPr>
              <a:t>Resizing of images to match CNN input requirements</a:t>
            </a:r>
          </a:p>
          <a:p>
            <a:r>
              <a:rPr sz="1600" dirty="0">
                <a:solidFill>
                  <a:srgbClr val="C8C8C8"/>
                </a:solidFill>
              </a:rPr>
              <a:t>Application of data augmentation techniques to improve generalization</a:t>
            </a:r>
          </a:p>
          <a:p>
            <a:r>
              <a:rPr sz="1600" dirty="0">
                <a:solidFill>
                  <a:srgbClr val="C8C8C8"/>
                </a:solidFill>
              </a:rPr>
              <a:t>Training using Adam optimizer and categorical cross-entropy loss</a:t>
            </a:r>
          </a:p>
          <a:p>
            <a:r>
              <a:rPr sz="1600" dirty="0">
                <a:solidFill>
                  <a:srgbClr val="C8C8C8"/>
                </a:solidFill>
              </a:rPr>
              <a:t>Validation of model performance on unseen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a:xfrm>
            <a:off x="457200" y="1338942"/>
            <a:ext cx="8229600" cy="4525963"/>
          </a:xfrm>
        </p:spPr>
        <p:txBody>
          <a:bodyPr/>
          <a:lstStyle/>
          <a:p>
            <a:pPr marL="0" indent="0">
              <a:buNone/>
            </a:pPr>
            <a:endParaRPr lang="en-US" sz="1600" dirty="0">
              <a:solidFill>
                <a:srgbClr val="C8C8C8"/>
              </a:solidFill>
            </a:endParaRPr>
          </a:p>
          <a:p>
            <a:pPr marL="0" indent="0">
              <a:buNone/>
            </a:pPr>
            <a:endParaRPr sz="1600" dirty="0">
              <a:solidFill>
                <a:srgbClr val="C8C8C8"/>
              </a:solidFill>
            </a:endParaRPr>
          </a:p>
          <a:p>
            <a:r>
              <a:rPr sz="1600" dirty="0">
                <a:solidFill>
                  <a:srgbClr val="C8C8C8"/>
                </a:solidFill>
              </a:rPr>
              <a:t>Deployment and Application Development</a:t>
            </a:r>
          </a:p>
          <a:p>
            <a:r>
              <a:rPr sz="1600" dirty="0">
                <a:solidFill>
                  <a:srgbClr val="C8C8C8"/>
                </a:solidFill>
              </a:rPr>
              <a:t>Integration of the trained CNN model into a </a:t>
            </a:r>
            <a:r>
              <a:rPr sz="1600" dirty="0" err="1">
                <a:solidFill>
                  <a:srgbClr val="C8C8C8"/>
                </a:solidFill>
              </a:rPr>
              <a:t>Streamlit</a:t>
            </a:r>
            <a:r>
              <a:rPr sz="1600" dirty="0">
                <a:solidFill>
                  <a:srgbClr val="C8C8C8"/>
                </a:solidFill>
              </a:rPr>
              <a:t> web application</a:t>
            </a:r>
          </a:p>
          <a:p>
            <a:r>
              <a:rPr sz="1600" dirty="0">
                <a:solidFill>
                  <a:srgbClr val="C8C8C8"/>
                </a:solidFill>
              </a:rPr>
              <a:t>Implementation of real-time image upload and inference</a:t>
            </a:r>
          </a:p>
          <a:p>
            <a:r>
              <a:rPr sz="1600" dirty="0">
                <a:solidFill>
                  <a:srgbClr val="C8C8C8"/>
                </a:solidFill>
              </a:rPr>
              <a:t>Display of scanner prediction, DPI, and confidence score</a:t>
            </a:r>
          </a:p>
          <a:p>
            <a:r>
              <a:rPr sz="1600" dirty="0">
                <a:solidFill>
                  <a:srgbClr val="C8C8C8"/>
                </a:solidFill>
              </a:rPr>
              <a:t>Logging of results with CSV export functionality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IN" dirty="0">
                <a:solidFill>
                  <a:srgbClr val="C8C8C8"/>
                </a:solidFill>
              </a:rPr>
              <a:t>TECHNOLOGIES USED</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rgbClr val="C8C8C8"/>
              </a:solidFill>
            </a:endParaRPr>
          </a:p>
          <a:p>
            <a:endParaRPr sz="1600" dirty="0">
              <a:solidFill>
                <a:srgbClr val="C8C8C8"/>
              </a:solidFill>
            </a:endParaRPr>
          </a:p>
          <a:p>
            <a:r>
              <a:rPr sz="1600" dirty="0">
                <a:solidFill>
                  <a:srgbClr val="C8C8C8"/>
                </a:solidFill>
              </a:rPr>
              <a:t>Python – Core programming and model development</a:t>
            </a:r>
          </a:p>
          <a:p>
            <a:r>
              <a:rPr sz="1600" dirty="0">
                <a:solidFill>
                  <a:srgbClr val="C8C8C8"/>
                </a:solidFill>
              </a:rPr>
              <a:t>OpenCV – Image preprocessing and enhancement</a:t>
            </a:r>
          </a:p>
          <a:p>
            <a:r>
              <a:rPr sz="1600" dirty="0">
                <a:solidFill>
                  <a:srgbClr val="C8C8C8"/>
                </a:solidFill>
              </a:rPr>
              <a:t>NumPy &amp; Pandas – Data handling and feature management</a:t>
            </a:r>
          </a:p>
          <a:p>
            <a:r>
              <a:rPr sz="1600" dirty="0">
                <a:solidFill>
                  <a:srgbClr val="C8C8C8"/>
                </a:solidFill>
              </a:rPr>
              <a:t>Scikit-learn – Classical machine learning models</a:t>
            </a:r>
          </a:p>
          <a:p>
            <a:r>
              <a:rPr sz="1600" dirty="0">
                <a:solidFill>
                  <a:srgbClr val="C8C8C8"/>
                </a:solidFill>
              </a:rPr>
              <a:t>TensorFlow / </a:t>
            </a:r>
            <a:r>
              <a:rPr sz="1600" dirty="0" err="1">
                <a:solidFill>
                  <a:srgbClr val="C8C8C8"/>
                </a:solidFill>
              </a:rPr>
              <a:t>Keras</a:t>
            </a:r>
            <a:r>
              <a:rPr sz="1600" dirty="0">
                <a:solidFill>
                  <a:srgbClr val="C8C8C8"/>
                </a:solidFill>
              </a:rPr>
              <a:t> – CNN-based deep learning model</a:t>
            </a:r>
          </a:p>
          <a:p>
            <a:r>
              <a:rPr sz="1600" dirty="0" err="1">
                <a:solidFill>
                  <a:srgbClr val="C8C8C8"/>
                </a:solidFill>
              </a:rPr>
              <a:t>Streamlit</a:t>
            </a:r>
            <a:r>
              <a:rPr sz="1600" dirty="0">
                <a:solidFill>
                  <a:srgbClr val="C8C8C8"/>
                </a:solidFill>
              </a:rPr>
              <a:t> – Web application and deployment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438"/>
            <a:ext cx="8229600" cy="1143000"/>
          </a:xfrm>
        </p:spPr>
        <p:txBody>
          <a:bodyPr>
            <a:normAutofit fontScale="90000"/>
          </a:bodyPr>
          <a:lstStyle/>
          <a:p>
            <a:r>
              <a:rPr lang="en-IN" dirty="0">
                <a:solidFill>
                  <a:srgbClr val="C8C8C8"/>
                </a:solidFill>
              </a:rPr>
              <a:t>OUTPUT</a:t>
            </a:r>
            <a:br>
              <a:rPr lang="en-IN" dirty="0">
                <a:solidFill>
                  <a:srgbClr val="C8C8C8"/>
                </a:solidFill>
              </a:rPr>
            </a:b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rgbClr val="C8C8C8"/>
              </a:solidFill>
            </a:endParaRPr>
          </a:p>
          <a:p>
            <a:r>
              <a:rPr sz="1600" dirty="0">
                <a:solidFill>
                  <a:srgbClr val="C8C8C8"/>
                </a:solidFill>
              </a:rPr>
              <a:t>User uploads a scanned document image through the web interface</a:t>
            </a:r>
          </a:p>
          <a:p>
            <a:r>
              <a:rPr sz="1600" dirty="0">
                <a:solidFill>
                  <a:srgbClr val="C8C8C8"/>
                </a:solidFill>
              </a:rPr>
              <a:t>The system processes the image and performs scanner identification</a:t>
            </a:r>
          </a:p>
          <a:p>
            <a:r>
              <a:rPr sz="1600" dirty="0">
                <a:solidFill>
                  <a:srgbClr val="C8C8C8"/>
                </a:solidFill>
              </a:rPr>
              <a:t>Predicted scanner model and scanning DPI are displayed</a:t>
            </a:r>
          </a:p>
          <a:p>
            <a:r>
              <a:rPr sz="1600" dirty="0">
                <a:solidFill>
                  <a:srgbClr val="C8C8C8"/>
                </a:solidFill>
              </a:rPr>
              <a:t>A confidence score indicates the reliability of the prediction</a:t>
            </a:r>
          </a:p>
          <a:p>
            <a:r>
              <a:rPr sz="1600" dirty="0">
                <a:solidFill>
                  <a:srgbClr val="C8C8C8"/>
                </a:solidFill>
              </a:rPr>
              <a:t>Prediction results are logged for record and analysis</a:t>
            </a:r>
          </a:p>
          <a:p>
            <a:r>
              <a:rPr sz="1600" dirty="0">
                <a:solidFill>
                  <a:srgbClr val="C8C8C8"/>
                </a:solidFill>
              </a:rPr>
              <a:t>Logs can be exported in CSV format for further forensic use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OUTPUT</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rgbClr val="C8C8C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OUTPUT</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rgbClr val="C8C8C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PERFOMANCE EVALUATION</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rgbClr val="C8C8C8"/>
              </a:solidFill>
            </a:endParaRPr>
          </a:p>
          <a:p>
            <a:endParaRPr sz="1600" dirty="0">
              <a:solidFill>
                <a:srgbClr val="C8C8C8"/>
              </a:solidFill>
            </a:endParaRPr>
          </a:p>
          <a:p>
            <a:r>
              <a:rPr sz="1600" dirty="0">
                <a:solidFill>
                  <a:srgbClr val="C8C8C8"/>
                </a:solidFill>
              </a:rPr>
              <a:t>The dataset was divided into training and testing sets using an 80:20 split</a:t>
            </a:r>
          </a:p>
          <a:p>
            <a:r>
              <a:rPr sz="1600" dirty="0">
                <a:solidFill>
                  <a:srgbClr val="C8C8C8"/>
                </a:solidFill>
              </a:rPr>
              <a:t>Performance was evaluated using standard classification metrics</a:t>
            </a:r>
          </a:p>
          <a:p>
            <a:r>
              <a:rPr sz="1600" dirty="0">
                <a:solidFill>
                  <a:srgbClr val="C8C8C8"/>
                </a:solidFill>
              </a:rPr>
              <a:t>Metrics used include Accuracy, Precision, Recall, and F1-score</a:t>
            </a:r>
          </a:p>
          <a:p>
            <a:r>
              <a:rPr sz="1600" dirty="0">
                <a:solidFill>
                  <a:srgbClr val="C8C8C8"/>
                </a:solidFill>
              </a:rPr>
              <a:t>Confusion matrices were analyzed to study class-wise performance</a:t>
            </a:r>
          </a:p>
          <a:p>
            <a:r>
              <a:rPr sz="1600" dirty="0">
                <a:solidFill>
                  <a:srgbClr val="C8C8C8"/>
                </a:solidFill>
              </a:rPr>
              <a:t>Classical machine learning models such as Random Forest and SVM were evaluated</a:t>
            </a:r>
          </a:p>
          <a:p>
            <a:r>
              <a:rPr sz="1600" dirty="0">
                <a:solidFill>
                  <a:srgbClr val="C8C8C8"/>
                </a:solidFill>
              </a:rPr>
              <a:t>The CNN-based deep learning model was evaluated using validation accuracy and loss</a:t>
            </a:r>
          </a:p>
          <a:p>
            <a:r>
              <a:rPr sz="1600" dirty="0">
                <a:solidFill>
                  <a:srgbClr val="C8C8C8"/>
                </a:solidFill>
              </a:rPr>
              <a:t>Comparative analysis was performed between classical ML models and the CNN approach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RESULTS AND DISCUSSION</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rgbClr val="C8C8C8"/>
              </a:solidFill>
            </a:endParaRPr>
          </a:p>
          <a:p>
            <a:endParaRPr sz="1600" dirty="0">
              <a:solidFill>
                <a:srgbClr val="C8C8C8"/>
              </a:solidFill>
            </a:endParaRPr>
          </a:p>
          <a:p>
            <a:endParaRPr sz="1600" dirty="0">
              <a:solidFill>
                <a:srgbClr val="C8C8C8"/>
              </a:solidFill>
            </a:endParaRPr>
          </a:p>
          <a:p>
            <a:r>
              <a:rPr sz="1600" dirty="0">
                <a:solidFill>
                  <a:srgbClr val="C8C8C8"/>
                </a:solidFill>
              </a:rPr>
              <a:t>High accuracy achieved in scanner identification using classical machine learning models</a:t>
            </a:r>
          </a:p>
          <a:p>
            <a:r>
              <a:rPr sz="1600" dirty="0">
                <a:solidFill>
                  <a:srgbClr val="C8C8C8"/>
                </a:solidFill>
              </a:rPr>
              <a:t>Random Forest classifier demonstrated the best overall performance</a:t>
            </a:r>
          </a:p>
          <a:p>
            <a:r>
              <a:rPr sz="1600" dirty="0">
                <a:solidFill>
                  <a:srgbClr val="C8C8C8"/>
                </a:solidFill>
              </a:rPr>
              <a:t>CNN model successfully learned scanner-specific patterns with strong validation accuracy</a:t>
            </a:r>
          </a:p>
          <a:p>
            <a:r>
              <a:rPr sz="1600" dirty="0">
                <a:solidFill>
                  <a:srgbClr val="C8C8C8"/>
                </a:solidFill>
              </a:rPr>
              <a:t>Consistent performance observed across multiple scanner models and DPI settings</a:t>
            </a:r>
          </a:p>
          <a:p>
            <a:r>
              <a:rPr sz="1600" dirty="0">
                <a:solidFill>
                  <a:srgbClr val="C8C8C8"/>
                </a:solidFill>
              </a:rPr>
              <a:t>The system operates effectively as an end-to-end forensic scanner identification tool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C8C8C8"/>
                </a:solidFill>
              </a:rPr>
              <a:t>CONCLUSION</a:t>
            </a:r>
            <a:br>
              <a:rPr lang="en-IN" dirty="0">
                <a:solidFill>
                  <a:srgbClr val="C8C8C8"/>
                </a:solidFill>
              </a:rPr>
            </a:br>
            <a:endParaRPr dirty="0"/>
          </a:p>
        </p:txBody>
      </p:sp>
      <p:sp>
        <p:nvSpPr>
          <p:cNvPr id="3" name="Content Placeholder 2"/>
          <p:cNvSpPr>
            <a:spLocks noGrp="1"/>
          </p:cNvSpPr>
          <p:nvPr>
            <p:ph idx="1"/>
          </p:nvPr>
        </p:nvSpPr>
        <p:spPr/>
        <p:txBody>
          <a:bodyPr/>
          <a:lstStyle/>
          <a:p>
            <a:endParaRPr sz="1600" dirty="0">
              <a:solidFill>
                <a:srgbClr val="C8C8C8"/>
              </a:solidFill>
            </a:endParaRPr>
          </a:p>
          <a:p>
            <a:endParaRPr sz="1600" dirty="0">
              <a:solidFill>
                <a:srgbClr val="C8C8C8"/>
              </a:solidFill>
            </a:endParaRPr>
          </a:p>
          <a:p>
            <a:r>
              <a:rPr sz="1600" dirty="0" err="1">
                <a:solidFill>
                  <a:srgbClr val="C8C8C8"/>
                </a:solidFill>
              </a:rPr>
              <a:t>TraceFinder</a:t>
            </a:r>
            <a:r>
              <a:rPr sz="1600" dirty="0">
                <a:solidFill>
                  <a:srgbClr val="C8C8C8"/>
                </a:solidFill>
              </a:rPr>
              <a:t> successfully addresses the challenge of forensic scanner identification using scanned document images</a:t>
            </a:r>
          </a:p>
          <a:p>
            <a:r>
              <a:rPr sz="1600" dirty="0">
                <a:solidFill>
                  <a:srgbClr val="C8C8C8"/>
                </a:solidFill>
              </a:rPr>
              <a:t>The system effectively captures scanner-specific artifacts through image processing techniques</a:t>
            </a:r>
          </a:p>
          <a:p>
            <a:r>
              <a:rPr sz="1600" dirty="0">
                <a:solidFill>
                  <a:srgbClr val="C8C8C8"/>
                </a:solidFill>
              </a:rPr>
              <a:t>Both classical machine learning and CNN-based deep learning models demonstrate strong identification performance</a:t>
            </a:r>
          </a:p>
          <a:p>
            <a:r>
              <a:rPr sz="1600" dirty="0">
                <a:solidFill>
                  <a:srgbClr val="C8C8C8"/>
                </a:solidFill>
              </a:rPr>
              <a:t>Deployment as a web application enables practical and real-time forensic analysis</a:t>
            </a:r>
          </a:p>
          <a:p>
            <a:r>
              <a:rPr sz="1600" dirty="0">
                <a:solidFill>
                  <a:srgbClr val="C8C8C8"/>
                </a:solidFill>
              </a:rPr>
              <a:t>The project highlights the potential of artificial intelligence in strengthening digital document forensics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Content Placeholder 2"/>
          <p:cNvSpPr>
            <a:spLocks noGrp="1"/>
          </p:cNvSpPr>
          <p:nvPr>
            <p:ph idx="1"/>
          </p:nvPr>
        </p:nvSpPr>
        <p:spPr>
          <a:xfrm>
            <a:off x="2318657" y="2841172"/>
            <a:ext cx="8229600" cy="4525963"/>
          </a:xfrm>
        </p:spPr>
        <p:txBody>
          <a:bodyPr>
            <a:normAutofit/>
          </a:bodyPr>
          <a:lstStyle/>
          <a:p>
            <a:pPr marL="0" indent="0">
              <a:buNone/>
            </a:pPr>
            <a:r>
              <a:rPr lang="en-US" sz="4800" dirty="0">
                <a:solidFill>
                  <a:srgbClr val="C8C8C8"/>
                </a:solidFill>
              </a:rPr>
              <a:t>  </a:t>
            </a:r>
            <a:r>
              <a:rPr sz="4800" dirty="0">
                <a:solidFill>
                  <a:srgbClr val="C8C8C8"/>
                </a:solidFil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818</Words>
  <Application>Microsoft Office PowerPoint</Application>
  <PresentationFormat>On-screen Show (4:3)</PresentationFormat>
  <Paragraphs>128</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TRACEFINDER – FORENSIC SCANNER  IDENTIFICATION SYSTEM </vt:lpstr>
      <vt:lpstr>PowerPoint Presentation</vt:lpstr>
      <vt:lpstr>INTRODUCTION  </vt:lpstr>
      <vt:lpstr>PROBLEM STATEMENT </vt:lpstr>
      <vt:lpstr>PowerPoint Presentation</vt:lpstr>
      <vt:lpstr>WORKFLOW </vt:lpstr>
      <vt:lpstr>METHODOLOGY </vt:lpstr>
      <vt:lpstr>PowerPoint Presentation</vt:lpstr>
      <vt:lpstr>PowerPoint Presentation</vt:lpstr>
      <vt:lpstr>PowerPoint Presentation</vt:lpstr>
      <vt:lpstr>TECHNOLOGIES USED </vt:lpstr>
      <vt:lpstr>OUTPUT  </vt:lpstr>
      <vt:lpstr>OUTPUT </vt:lpstr>
      <vt:lpstr>OUTPUT </vt:lpstr>
      <vt:lpstr>PERFOMANCE EVALUATION </vt:lpstr>
      <vt:lpstr>RESULTS AND DISCUSSION </vt:lpstr>
      <vt:lpstr>CONCLUSION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Silvia Jasmine</cp:lastModifiedBy>
  <cp:revision>2</cp:revision>
  <dcterms:created xsi:type="dcterms:W3CDTF">2013-01-27T09:14:16Z</dcterms:created>
  <dcterms:modified xsi:type="dcterms:W3CDTF">2026-01-23T14:19:21Z</dcterms:modified>
  <cp:category/>
</cp:coreProperties>
</file>